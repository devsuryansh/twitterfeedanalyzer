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60" r:id="rId2"/>
    <p:sldId id="265" r:id="rId3"/>
    <p:sldId id="307" r:id="rId4"/>
    <p:sldId id="308" r:id="rId5"/>
    <p:sldId id="315" r:id="rId6"/>
    <p:sldId id="316" r:id="rId7"/>
    <p:sldId id="317" r:id="rId8"/>
    <p:sldId id="319" r:id="rId9"/>
    <p:sldId id="320" r:id="rId10"/>
    <p:sldId id="321" r:id="rId11"/>
    <p:sldId id="322" r:id="rId12"/>
    <p:sldId id="323" r:id="rId13"/>
    <p:sldId id="305" r:id="rId14"/>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8" userDrawn="1">
          <p15:clr>
            <a:srgbClr val="A4A3A4"/>
          </p15:clr>
        </p15:guide>
        <p15:guide id="2" orient="horz" pos="1008" userDrawn="1">
          <p15:clr>
            <a:srgbClr val="A4A3A4"/>
          </p15:clr>
        </p15:guide>
        <p15:guide id="3" orient="horz" pos="3792" userDrawn="1">
          <p15:clr>
            <a:srgbClr val="A4A3A4"/>
          </p15:clr>
        </p15:guide>
        <p15:guide id="4" orient="horz" pos="1152" userDrawn="1">
          <p15:clr>
            <a:srgbClr val="A4A3A4"/>
          </p15:clr>
        </p15:guide>
        <p15:guide id="5" orient="horz" pos="3360" userDrawn="1">
          <p15:clr>
            <a:srgbClr val="A4A3A4"/>
          </p15:clr>
        </p15:guide>
        <p15:guide id="6" orient="horz" pos="3106" userDrawn="1">
          <p15:clr>
            <a:srgbClr val="A4A3A4"/>
          </p15:clr>
        </p15:guide>
        <p15:guide id="7" orient="horz" pos="890" userDrawn="1">
          <p15:clr>
            <a:srgbClr val="A4A3A4"/>
          </p15:clr>
        </p15:guide>
        <p15:guide id="8" orient="horz" pos="527" userDrawn="1">
          <p15:clr>
            <a:srgbClr val="A4A3A4"/>
          </p15:clr>
        </p15:guide>
        <p15:guide id="9" orient="horz" pos="2844" userDrawn="1">
          <p15:clr>
            <a:srgbClr val="A4A3A4"/>
          </p15:clr>
        </p15:guide>
        <p15:guide id="10" pos="3839" userDrawn="1">
          <p15:clr>
            <a:srgbClr val="A4A3A4"/>
          </p15:clr>
        </p15:guide>
        <p15:guide id="11" pos="959" userDrawn="1">
          <p15:clr>
            <a:srgbClr val="A4A3A4"/>
          </p15:clr>
        </p15:guide>
        <p15:guide id="12" pos="7007" userDrawn="1">
          <p15:clr>
            <a:srgbClr val="A4A3A4"/>
          </p15:clr>
        </p15:guide>
        <p15:guide id="13" pos="6719" userDrawn="1">
          <p15:clr>
            <a:srgbClr val="A4A3A4"/>
          </p15:clr>
        </p15:guide>
        <p15:guide id="14" pos="6143" userDrawn="1">
          <p15:clr>
            <a:srgbClr val="A4A3A4"/>
          </p15:clr>
        </p15:guide>
        <p15:guide id="15" pos="3983" userDrawn="1">
          <p15:clr>
            <a:srgbClr val="A4A3A4"/>
          </p15:clr>
        </p15:guide>
        <p15:guide id="16" pos="527" userDrawn="1">
          <p15:clr>
            <a:srgbClr val="A4A3A4"/>
          </p15:clr>
        </p15:guide>
        <p15:guide id="17" pos="7150" userDrawn="1">
          <p15:clr>
            <a:srgbClr val="A4A3A4"/>
          </p15:clr>
        </p15:guide>
      </p15:sldGuideLst>
    </p:ext>
    <p:ext uri="{2D200454-40CA-4A62-9FC3-DE9A4176ACB9}">
      <p15:notesGuideLst xmlns:p15="http://schemas.microsoft.com/office/powerpoint/2012/main">
        <p15:guide id="1" orient="horz" pos="2904">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A0BA"/>
    <a:srgbClr val="D4EBF3"/>
    <a:srgbClr val="6E1D6B"/>
    <a:srgbClr val="99FF66"/>
    <a:srgbClr val="FF9933"/>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howGuides="1">
      <p:cViewPr varScale="1">
        <p:scale>
          <a:sx n="82" d="100"/>
          <a:sy n="82" d="100"/>
        </p:scale>
        <p:origin x="720" y="72"/>
      </p:cViewPr>
      <p:guideLst>
        <p:guide orient="horz" pos="2178"/>
        <p:guide orient="horz" pos="1008"/>
        <p:guide orient="horz" pos="3792"/>
        <p:guide orient="horz" pos="1152"/>
        <p:guide orient="horz" pos="3360"/>
        <p:guide orient="horz" pos="3106"/>
        <p:guide orient="horz" pos="890"/>
        <p:guide orient="horz" pos="527"/>
        <p:guide orient="horz" pos="2844"/>
        <p:guide pos="3839"/>
        <p:guide pos="959"/>
        <p:guide pos="7007"/>
        <p:guide pos="6719"/>
        <p:guide pos="6143"/>
        <p:guide pos="3983"/>
        <p:guide pos="527"/>
        <p:guide pos="7150"/>
      </p:guideLst>
    </p:cSldViewPr>
  </p:slideViewPr>
  <p:notesTextViewPr>
    <p:cViewPr>
      <p:scale>
        <a:sx n="1" d="1"/>
        <a:sy n="1" d="1"/>
      </p:scale>
      <p:origin x="0" y="0"/>
    </p:cViewPr>
  </p:notesTextViewPr>
  <p:notesViewPr>
    <p:cSldViewPr>
      <p:cViewPr varScale="1">
        <p:scale>
          <a:sx n="76" d="100"/>
          <a:sy n="76" d="100"/>
        </p:scale>
        <p:origin x="1680" y="96"/>
      </p:cViewPr>
      <p:guideLst>
        <p:guide orient="horz" pos="2904"/>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04A8D02-4E65-4CCD-8312-4AB164C6C77D}" type="datetimeFigureOut">
              <a:rPr lang="en-US"/>
              <a:t>4/11/2025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C119DBA-4540-49B3-8FA9-6259387ECF9E}" type="slidenum">
              <a:rPr/>
              <a:t>‹#›</a:t>
            </a:fld>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A755D9-D361-47B8-9652-3B4EA9776CE5}" type="datetimeFigureOut">
              <a:rPr lang="en-US"/>
              <a:t>4/11/2025</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B36274-F2B9-4C45-BBB4-0EDF4CD651A7}" type="slidenum">
              <a:rPr/>
              <a:t>‹#›</a:t>
            </a:fld>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371600"/>
            <a:ext cx="9144000" cy="3505200"/>
          </a:xfrm>
        </p:spPr>
        <p:txBody>
          <a:bodyPr>
            <a:noAutofit/>
          </a:bodyPr>
          <a:lstStyle>
            <a:lvl1pPr>
              <a:defRPr sz="7200"/>
            </a:lvl1pPr>
          </a:lstStyle>
          <a:p>
            <a:r>
              <a:rPr lang="en-US"/>
              <a:t>Click to edit Master title style</a:t>
            </a:r>
          </a:p>
        </p:txBody>
      </p:sp>
      <p:sp>
        <p:nvSpPr>
          <p:cNvPr id="3" name="Subtitle 2"/>
          <p:cNvSpPr>
            <a:spLocks noGrp="1"/>
          </p:cNvSpPr>
          <p:nvPr>
            <p:ph type="subTitle" idx="1"/>
          </p:nvPr>
        </p:nvSpPr>
        <p:spPr>
          <a:xfrm>
            <a:off x="1522413" y="4953000"/>
            <a:ext cx="8229600" cy="1066800"/>
          </a:xfrm>
        </p:spPr>
        <p:txBody>
          <a:bodyPr>
            <a:normAutofit/>
          </a:bodyPr>
          <a:lstStyle>
            <a:lvl1pPr marL="0" indent="0" algn="l">
              <a:spcBef>
                <a:spcPts val="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p:txBody>
          <a:bodyPr/>
          <a:lstStyle/>
          <a:p>
            <a:r>
              <a:rPr lang="en-US"/>
              <a:t>OOTs Using JAVA Project PPT 2024-25 Odd Sem</a:t>
            </a:r>
            <a:endParaRPr lang="en-US" dirty="0"/>
          </a:p>
        </p:txBody>
      </p:sp>
      <p:sp>
        <p:nvSpPr>
          <p:cNvPr id="4" name="Date Placeholder 3"/>
          <p:cNvSpPr>
            <a:spLocks noGrp="1"/>
          </p:cNvSpPr>
          <p:nvPr>
            <p:ph type="dt" sz="half" idx="10"/>
          </p:nvPr>
        </p:nvSpPr>
        <p:spPr/>
        <p:txBody>
          <a:bodyPr/>
          <a:lstStyle/>
          <a:p>
            <a:fld id="{71906CD8-CA3C-4D6B-A77C-FD4180DE0C47}" type="datetime1">
              <a:rPr lang="en-US" smtClean="0"/>
              <a:t>4/11/2025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a:buClr>
                <a:schemeClr val="accent2"/>
              </a:buClr>
              <a:defRPr/>
            </a:lvl2pPr>
            <a:lvl5pPr>
              <a:defRPr/>
            </a:lvl5pPr>
            <a:lvl6pPr>
              <a:buClr>
                <a:schemeClr val="accent2"/>
              </a:buClr>
              <a:defRPr baseline="0"/>
            </a:lvl6pPr>
            <a:lvl7pPr>
              <a:buClr>
                <a:schemeClr val="accent2"/>
              </a:buClr>
              <a:defRPr baseline="0"/>
            </a:lvl7pPr>
            <a:lvl8pPr>
              <a:buClr>
                <a:schemeClr val="accent2"/>
              </a:buClr>
              <a:defRPr baseline="0"/>
            </a:lvl8pPr>
            <a:lvl9pPr>
              <a:buClr>
                <a:schemeClr val="accent2"/>
              </a:buClr>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a:t>OOTs Using JAVA Project PPT 2024-25 Odd Sem</a:t>
            </a:r>
            <a:endParaRPr lang="en-US" dirty="0"/>
          </a:p>
        </p:txBody>
      </p:sp>
      <p:sp>
        <p:nvSpPr>
          <p:cNvPr id="4" name="Date Placeholder 3"/>
          <p:cNvSpPr>
            <a:spLocks noGrp="1"/>
          </p:cNvSpPr>
          <p:nvPr>
            <p:ph type="dt" sz="half" idx="10"/>
          </p:nvPr>
        </p:nvSpPr>
        <p:spPr/>
        <p:txBody>
          <a:bodyPr/>
          <a:lstStyle/>
          <a:p>
            <a:fld id="{A87F2B5F-EBEF-487E-8CBB-EDFD0BD82D69}" type="datetime1">
              <a:rPr lang="en-US" smtClean="0"/>
              <a:t>4/11/2025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4" y="2514601"/>
            <a:ext cx="9144000" cy="2819400"/>
          </a:xfrm>
        </p:spPr>
        <p:txBody>
          <a:bodyPr anchor="b">
            <a:noAutofit/>
          </a:bodyPr>
          <a:lstStyle>
            <a:lvl1pPr algn="l">
              <a:defRPr sz="6600" b="0" i="0" cap="none" baseline="0"/>
            </a:lvl1pPr>
          </a:lstStyle>
          <a:p>
            <a:r>
              <a:rPr lang="en-US"/>
              <a:t>Click to edit Master title style</a:t>
            </a:r>
          </a:p>
        </p:txBody>
      </p:sp>
      <p:sp>
        <p:nvSpPr>
          <p:cNvPr id="3" name="Text Placeholder 2"/>
          <p:cNvSpPr>
            <a:spLocks noGrp="1"/>
          </p:cNvSpPr>
          <p:nvPr>
            <p:ph type="body" idx="1"/>
          </p:nvPr>
        </p:nvSpPr>
        <p:spPr>
          <a:xfrm>
            <a:off x="1522413" y="990600"/>
            <a:ext cx="8229600" cy="1143000"/>
          </a:xfrm>
        </p:spPr>
        <p:txBody>
          <a:bodyPr anchor="t">
            <a:normAutofit/>
          </a:bodyPr>
          <a:lstStyle>
            <a:lvl1pPr marL="0" indent="0">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r>
              <a:rPr lang="en-US"/>
              <a:t>OOTs Using JAVA Project PPT 2024-25 Odd Sem</a:t>
            </a:r>
            <a:endParaRPr lang="en-US" dirty="0"/>
          </a:p>
        </p:txBody>
      </p:sp>
      <p:sp>
        <p:nvSpPr>
          <p:cNvPr id="4" name="Date Placeholder 3"/>
          <p:cNvSpPr>
            <a:spLocks noGrp="1"/>
          </p:cNvSpPr>
          <p:nvPr>
            <p:ph type="dt" sz="half" idx="10"/>
          </p:nvPr>
        </p:nvSpPr>
        <p:spPr/>
        <p:txBody>
          <a:bodyPr/>
          <a:lstStyle/>
          <a:p>
            <a:fld id="{6FDC42A9-FB42-45A8-AF82-3EDC2979862E}" type="datetime1">
              <a:rPr lang="en-US" smtClean="0"/>
              <a:t>4/11/2025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533400"/>
            <a:ext cx="9601200" cy="1143000"/>
          </a:xfrm>
        </p:spPr>
        <p:txBody>
          <a:bodyPr/>
          <a:lstStyle/>
          <a:p>
            <a:r>
              <a:rPr lang="en-US"/>
              <a:t>Click to edit Master title style</a:t>
            </a:r>
          </a:p>
        </p:txBody>
      </p:sp>
      <p:sp>
        <p:nvSpPr>
          <p:cNvPr id="3" name="Content Placeholder 2"/>
          <p:cNvSpPr>
            <a:spLocks noGrp="1"/>
          </p:cNvSpPr>
          <p:nvPr>
            <p:ph sz="half" idx="1"/>
          </p:nvPr>
        </p:nvSpPr>
        <p:spPr>
          <a:xfrm>
            <a:off x="1522414" y="1828800"/>
            <a:ext cx="4645152"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5412" y="1828800"/>
            <a:ext cx="4648201"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OOTs Using JAVA Project PPT 2024-25 Odd Sem</a:t>
            </a:r>
            <a:endParaRPr lang="en-US" dirty="0"/>
          </a:p>
        </p:txBody>
      </p:sp>
      <p:sp>
        <p:nvSpPr>
          <p:cNvPr id="5" name="Date Placeholder 4"/>
          <p:cNvSpPr>
            <a:spLocks noGrp="1"/>
          </p:cNvSpPr>
          <p:nvPr>
            <p:ph type="dt" sz="half" idx="10"/>
          </p:nvPr>
        </p:nvSpPr>
        <p:spPr/>
        <p:txBody>
          <a:bodyPr/>
          <a:lstStyle/>
          <a:p>
            <a:fld id="{AFDFA9EE-CEE9-467A-8B80-9B8B471778C7}" type="datetime1">
              <a:rPr lang="en-US" smtClean="0"/>
              <a:t>4/11/2025</a:t>
            </a:fld>
            <a:endParaRPr lang="en-US"/>
          </a:p>
        </p:txBody>
      </p:sp>
      <p:sp>
        <p:nvSpPr>
          <p:cNvPr id="7" name="Slide Number Placeholder 6"/>
          <p:cNvSpPr>
            <a:spLocks noGrp="1"/>
          </p:cNvSpPr>
          <p:nvPr>
            <p:ph type="sldNum" sz="quarter" idx="12"/>
          </p:nvPr>
        </p:nvSpPr>
        <p:spPr/>
        <p:txBody>
          <a:bodyPr/>
          <a:lstStyle/>
          <a:p>
            <a:fld id="{E5137D0E-4A4F-4307-8994-C1891D747D5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533400"/>
            <a:ext cx="96012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522414" y="1828800"/>
            <a:ext cx="46451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22414" y="2667000"/>
            <a:ext cx="4645152" cy="3352800"/>
          </a:xfrm>
        </p:spPr>
        <p:txBody>
          <a:bodyPr>
            <a:normAutofit/>
          </a:bodyPr>
          <a:lstStyle>
            <a:lvl1pPr>
              <a:defRPr sz="2000"/>
            </a:lvl1pPr>
            <a:lvl2pPr>
              <a:defRPr sz="1800"/>
            </a:lvl2pPr>
            <a:lvl3pPr>
              <a:defRPr sz="1600"/>
            </a:lvl3pPr>
            <a:lvl4pPr>
              <a:defRPr sz="1400"/>
            </a:lvl4pPr>
            <a:lvl5pPr>
              <a:defRPr sz="1400"/>
            </a:lvl5pPr>
            <a:lvl6pPr>
              <a:defRPr sz="1400" baseline="0"/>
            </a:lvl6pPr>
            <a:lvl7pPr>
              <a:defRPr sz="1400" baseline="0"/>
            </a:lvl7pPr>
            <a:lvl8pPr>
              <a:defRPr sz="1400" baseline="0"/>
            </a:lvl8pPr>
            <a:lvl9pPr>
              <a:defRPr sz="1400"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8462" y="1828800"/>
            <a:ext cx="46451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478462" y="2667000"/>
            <a:ext cx="4645152" cy="33528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OOTs Using JAVA Project PPT 2024-25 Odd Sem</a:t>
            </a:r>
            <a:endParaRPr lang="en-US" dirty="0"/>
          </a:p>
        </p:txBody>
      </p:sp>
      <p:sp>
        <p:nvSpPr>
          <p:cNvPr id="7" name="Date Placeholder 6"/>
          <p:cNvSpPr>
            <a:spLocks noGrp="1"/>
          </p:cNvSpPr>
          <p:nvPr>
            <p:ph type="dt" sz="half" idx="10"/>
          </p:nvPr>
        </p:nvSpPr>
        <p:spPr/>
        <p:txBody>
          <a:bodyPr/>
          <a:lstStyle/>
          <a:p>
            <a:fld id="{86C4A627-EF1C-4CF5-97AC-395DCFD6CFB4}" type="datetime1">
              <a:rPr lang="en-US" smtClean="0"/>
              <a:t>4/11/2025</a:t>
            </a:fld>
            <a:endParaRPr lang="en-US"/>
          </a:p>
        </p:txBody>
      </p:sp>
      <p:sp>
        <p:nvSpPr>
          <p:cNvPr id="9" name="Slide Number Placeholder 8"/>
          <p:cNvSpPr>
            <a:spLocks noGrp="1"/>
          </p:cNvSpPr>
          <p:nvPr>
            <p:ph type="sldNum" sz="quarter" idx="12"/>
          </p:nvPr>
        </p:nvSpPr>
        <p:spPr/>
        <p:txBody>
          <a:bodyPr/>
          <a:lstStyle/>
          <a:p>
            <a:fld id="{E5137D0E-4A4F-4307-8994-C1891D747D5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a:t>OOTs Using JAVA Project PPT 2024-25 Odd Sem</a:t>
            </a:r>
            <a:endParaRPr lang="en-US" dirty="0"/>
          </a:p>
        </p:txBody>
      </p:sp>
      <p:sp>
        <p:nvSpPr>
          <p:cNvPr id="3" name="Date Placeholder 2"/>
          <p:cNvSpPr>
            <a:spLocks noGrp="1"/>
          </p:cNvSpPr>
          <p:nvPr>
            <p:ph type="dt" sz="half" idx="10"/>
          </p:nvPr>
        </p:nvSpPr>
        <p:spPr/>
        <p:txBody>
          <a:bodyPr/>
          <a:lstStyle/>
          <a:p>
            <a:fld id="{D0ABFBFE-000F-406F-AA2A-CEEA1F2D477F}" type="datetime1">
              <a:rPr lang="en-US" smtClean="0"/>
              <a:t>4/11/2025</a:t>
            </a:fld>
            <a:endParaRPr lang="en-US"/>
          </a:p>
        </p:txBody>
      </p:sp>
      <p:sp>
        <p:nvSpPr>
          <p:cNvPr id="5" name="Slide Number Placeholder 4"/>
          <p:cNvSpPr>
            <a:spLocks noGrp="1"/>
          </p:cNvSpPr>
          <p:nvPr>
            <p:ph type="sldNum" sz="quarter" idx="12"/>
          </p:nvPr>
        </p:nvSpPr>
        <p:spPr/>
        <p:txBody>
          <a:bodyPr/>
          <a:lstStyle/>
          <a:p>
            <a:fld id="{E5137D0E-4A4F-4307-8994-C1891D747D5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OOTs Using JAVA Project PPT 2024-25 Odd Sem</a:t>
            </a:r>
            <a:endParaRPr lang="en-US" dirty="0"/>
          </a:p>
        </p:txBody>
      </p:sp>
      <p:sp>
        <p:nvSpPr>
          <p:cNvPr id="2" name="Date Placeholder 1"/>
          <p:cNvSpPr>
            <a:spLocks noGrp="1"/>
          </p:cNvSpPr>
          <p:nvPr>
            <p:ph type="dt" sz="half" idx="10"/>
          </p:nvPr>
        </p:nvSpPr>
        <p:spPr/>
        <p:txBody>
          <a:bodyPr/>
          <a:lstStyle/>
          <a:p>
            <a:fld id="{3AEF3988-F0C0-470A-95E5-9B63FE8BFDBE}" type="datetime1">
              <a:rPr lang="en-US" smtClean="0"/>
              <a:t>4/11/2025</a:t>
            </a:fld>
            <a:endParaRPr lang="en-US"/>
          </a:p>
        </p:txBody>
      </p:sp>
      <p:sp>
        <p:nvSpPr>
          <p:cNvPr id="4" name="Slide Number Placeholder 3"/>
          <p:cNvSpPr>
            <a:spLocks noGrp="1"/>
          </p:cNvSpPr>
          <p:nvPr>
            <p:ph type="sldNum" sz="quarter" idx="12"/>
          </p:nvPr>
        </p:nvSpPr>
        <p:spPr/>
        <p:txBody>
          <a:bodyPr/>
          <a:lstStyle/>
          <a:p>
            <a:fld id="{E5137D0E-4A4F-4307-8994-C1891D747D5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6613" y="2590800"/>
            <a:ext cx="3276599" cy="1924050"/>
          </a:xfrm>
        </p:spPr>
        <p:txBody>
          <a:bodyPr anchor="b">
            <a:normAutofit/>
          </a:bodyPr>
          <a:lstStyle>
            <a:lvl1pPr algn="l">
              <a:defRPr sz="3200" b="0"/>
            </a:lvl1pPr>
          </a:lstStyle>
          <a:p>
            <a:r>
              <a:rPr lang="en-US"/>
              <a:t>Click to edit Master title style</a:t>
            </a:r>
          </a:p>
        </p:txBody>
      </p:sp>
      <p:sp>
        <p:nvSpPr>
          <p:cNvPr id="3" name="Content Placeholder 2"/>
          <p:cNvSpPr>
            <a:spLocks noGrp="1"/>
          </p:cNvSpPr>
          <p:nvPr>
            <p:ph idx="1"/>
          </p:nvPr>
        </p:nvSpPr>
        <p:spPr>
          <a:xfrm>
            <a:off x="5180012" y="838200"/>
            <a:ext cx="6172201" cy="51816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6613" y="4648200"/>
            <a:ext cx="3276599" cy="1371600"/>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Footer Placeholder 8"/>
          <p:cNvSpPr>
            <a:spLocks noGrp="1"/>
          </p:cNvSpPr>
          <p:nvPr>
            <p:ph type="ftr" sz="quarter" idx="11"/>
          </p:nvPr>
        </p:nvSpPr>
        <p:spPr/>
        <p:txBody>
          <a:bodyPr/>
          <a:lstStyle/>
          <a:p>
            <a:r>
              <a:rPr lang="en-US"/>
              <a:t>OOTs Using JAVA Project PPT 2024-25 Odd Sem</a:t>
            </a:r>
            <a:endParaRPr lang="en-US" dirty="0"/>
          </a:p>
        </p:txBody>
      </p:sp>
      <p:sp>
        <p:nvSpPr>
          <p:cNvPr id="8" name="Date Placeholder 7"/>
          <p:cNvSpPr>
            <a:spLocks noGrp="1"/>
          </p:cNvSpPr>
          <p:nvPr>
            <p:ph type="dt" sz="half" idx="10"/>
          </p:nvPr>
        </p:nvSpPr>
        <p:spPr/>
        <p:txBody>
          <a:bodyPr/>
          <a:lstStyle/>
          <a:p>
            <a:fld id="{0DAFB9CF-D32B-45E5-84EB-BCAB6FD8FE2A}" type="datetime1">
              <a:rPr lang="en-US" smtClean="0"/>
              <a:t>4/11/2025</a:t>
            </a:fld>
            <a:endParaRPr lang="en-US"/>
          </a:p>
        </p:txBody>
      </p:sp>
      <p:sp>
        <p:nvSpPr>
          <p:cNvPr id="10" name="Slide Number Placeholder 9"/>
          <p:cNvSpPr>
            <a:spLocks noGrp="1"/>
          </p:cNvSpPr>
          <p:nvPr>
            <p:ph type="sldNum" sz="quarter" idx="12"/>
          </p:nvPr>
        </p:nvSpPr>
        <p:spPr/>
        <p:txBody>
          <a:bodyPr/>
          <a:lstStyle/>
          <a:p>
            <a:fld id="{E5137D0E-4A4F-4307-8994-C1891D747D5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6613" y="2590800"/>
            <a:ext cx="3276599" cy="1924050"/>
          </a:xfrm>
        </p:spPr>
        <p:txBody>
          <a:bodyPr anchor="b">
            <a:normAutofit/>
          </a:bodyPr>
          <a:lstStyle>
            <a:lvl1pPr algn="l">
              <a:defRPr sz="3200" b="0"/>
            </a:lvl1pPr>
          </a:lstStyle>
          <a:p>
            <a:r>
              <a:rPr lang="en-US"/>
              <a:t>Click to edit Master title style</a:t>
            </a:r>
          </a:p>
        </p:txBody>
      </p:sp>
      <p:sp>
        <p:nvSpPr>
          <p:cNvPr id="5" name="Rectangle 4"/>
          <p:cNvSpPr/>
          <p:nvPr/>
        </p:nvSpPr>
        <p:spPr>
          <a:xfrm>
            <a:off x="5103812" y="457200"/>
            <a:ext cx="6629400" cy="594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descr="An empty placeholder to add an image. Click on the placeholder and select the image that you wish to add"/>
          <p:cNvSpPr>
            <a:spLocks noGrp="1"/>
          </p:cNvSpPr>
          <p:nvPr>
            <p:ph type="pic" idx="1"/>
          </p:nvPr>
        </p:nvSpPr>
        <p:spPr>
          <a:xfrm>
            <a:off x="5484812" y="836610"/>
            <a:ext cx="5867401" cy="5183190"/>
          </a:xfrm>
          <a:solidFill>
            <a:schemeClr val="bg2"/>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6613" y="4648200"/>
            <a:ext cx="3276599" cy="1371600"/>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5pPr>
              <a:defRPr/>
            </a:lvl5pPr>
            <a:lvl6pPr>
              <a:defRPr baseline="0"/>
            </a:lvl6pPr>
            <a:lvl7pPr>
              <a:defRPr baseline="0"/>
            </a:lvl7pPr>
            <a:lvl8pPr>
              <a:defRPr baseline="0"/>
            </a:lvl8pPr>
            <a:lvl9pPr>
              <a:defRPr baseline="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OOTs Using JAVA Project PPT 2024-25 Odd Sem</a:t>
            </a:r>
            <a:endParaRPr lang="en-US" dirty="0"/>
          </a:p>
        </p:txBody>
      </p:sp>
      <p:sp>
        <p:nvSpPr>
          <p:cNvPr id="4" name="Date Placeholder 3"/>
          <p:cNvSpPr>
            <a:spLocks noGrp="1"/>
          </p:cNvSpPr>
          <p:nvPr>
            <p:ph type="dt" sz="half" idx="10"/>
          </p:nvPr>
        </p:nvSpPr>
        <p:spPr/>
        <p:txBody>
          <a:bodyPr/>
          <a:lstStyle/>
          <a:p>
            <a:fld id="{5517DF69-ECD3-4E7D-B21C-33825404711E}" type="datetime1">
              <a:rPr lang="en-US" smtClean="0"/>
              <a:t>4/11/2025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52012" y="533400"/>
            <a:ext cx="1371600" cy="559276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411" y="533400"/>
            <a:ext cx="8077201" cy="5592764"/>
          </a:xfrm>
        </p:spPr>
        <p:txBody>
          <a:bodyPr vert="eaVert"/>
          <a:lstStyle>
            <a:lvl5pPr>
              <a:defRPr/>
            </a:lvl5pPr>
            <a:lvl6pPr>
              <a:defRPr/>
            </a:lvl6pPr>
            <a:lvl7pPr>
              <a:defRPr/>
            </a:lvl7pPr>
            <a:lvl8pPr>
              <a:defRPr/>
            </a:lvl8pPr>
            <a:lvl9pPr>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OOTs Using JAVA Project PPT 2024-25 Odd Sem</a:t>
            </a:r>
            <a:endParaRPr lang="en-US" dirty="0"/>
          </a:p>
        </p:txBody>
      </p:sp>
      <p:sp>
        <p:nvSpPr>
          <p:cNvPr id="4" name="Date Placeholder 3"/>
          <p:cNvSpPr>
            <a:spLocks noGrp="1"/>
          </p:cNvSpPr>
          <p:nvPr>
            <p:ph type="dt" sz="half" idx="10"/>
          </p:nvPr>
        </p:nvSpPr>
        <p:spPr/>
        <p:txBody>
          <a:bodyPr/>
          <a:lstStyle/>
          <a:p>
            <a:fld id="{C66F66D9-70D9-45DD-BA80-E4EFDD6ECF3C}" type="datetime1">
              <a:rPr lang="en-US" smtClean="0"/>
              <a:t>4/11/2025</a:t>
            </a:fld>
            <a:endParaRPr lang="en-US"/>
          </a:p>
        </p:txBody>
      </p:sp>
      <p:sp>
        <p:nvSpPr>
          <p:cNvPr id="6" name="Slide Number Placeholder 5"/>
          <p:cNvSpPr>
            <a:spLocks noGrp="1"/>
          </p:cNvSpPr>
          <p:nvPr>
            <p:ph type="sldNum" sz="quarter" idx="12"/>
          </p:nvPr>
        </p:nvSpPr>
        <p:spPr/>
        <p:txBody>
          <a:bodyPr/>
          <a:lstStyle/>
          <a:p>
            <a:fld id="{E5137D0E-4A4F-4307-8994-C1891D747D59}"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1">
        <a:schemeClr val="bg1"/>
      </p:bgRef>
    </p:bg>
    <p:spTree>
      <p:nvGrpSpPr>
        <p:cNvPr id="1" name=""/>
        <p:cNvGrpSpPr/>
        <p:nvPr/>
      </p:nvGrpSpPr>
      <p:grpSpPr>
        <a:xfrm>
          <a:off x="0" y="0"/>
          <a:ext cx="0" cy="0"/>
          <a:chOff x="0" y="0"/>
          <a:chExt cx="0" cy="0"/>
        </a:xfrm>
      </p:grpSpPr>
      <p:grpSp>
        <p:nvGrpSpPr>
          <p:cNvPr id="32" name="Group 31"/>
          <p:cNvGrpSpPr/>
          <p:nvPr/>
        </p:nvGrpSpPr>
        <p:grpSpPr>
          <a:xfrm>
            <a:off x="-1" y="0"/>
            <a:ext cx="12188825" cy="6858000"/>
            <a:chOff x="-1" y="0"/>
            <a:chExt cx="12188825" cy="6858000"/>
          </a:xfrm>
        </p:grpSpPr>
        <p:sp>
          <p:nvSpPr>
            <p:cNvPr id="8" name="Rectangle 8"/>
            <p:cNvSpPr>
              <a:spLocks noChangeArrowheads="1"/>
            </p:cNvSpPr>
            <p:nvPr/>
          </p:nvSpPr>
          <p:spPr bwMode="auto">
            <a:xfrm>
              <a:off x="4164514" y="6705600"/>
              <a:ext cx="8024310" cy="152400"/>
            </a:xfrm>
            <a:prstGeom prst="rect">
              <a:avLst/>
            </a:prstGeom>
            <a:gradFill rotWithShape="0">
              <a:gsLst>
                <a:gs pos="0">
                  <a:schemeClr val="accent5">
                    <a:lumMod val="20000"/>
                    <a:lumOff val="80000"/>
                  </a:schemeClr>
                </a:gs>
                <a:gs pos="100000">
                  <a:schemeClr val="accent5">
                    <a:lumMod val="75000"/>
                  </a:schemeClr>
                </a:gs>
              </a:gsLst>
              <a:lin ang="0" scaled="1"/>
            </a:gradFill>
            <a:ln w="9525">
              <a:solidFill>
                <a:schemeClr val="tx1"/>
              </a:solidFill>
              <a:miter lim="800000"/>
            </a:ln>
            <a:effectLst/>
          </p:spPr>
          <p:txBody>
            <a:bodyPr wrap="none" anchor="ctr"/>
            <a:lstStyle/>
            <a:p>
              <a:pPr algn="ctr"/>
              <a:endParaRPr kumimoji="1" lang="en-US" sz="2400">
                <a:latin typeface="굴림" pitchFamily="50" charset="-127"/>
              </a:endParaRPr>
            </a:p>
          </p:txBody>
        </p:sp>
        <p:sp>
          <p:nvSpPr>
            <p:cNvPr id="9" name="Rectangle 9"/>
            <p:cNvSpPr>
              <a:spLocks noChangeArrowheads="1"/>
            </p:cNvSpPr>
            <p:nvPr/>
          </p:nvSpPr>
          <p:spPr bwMode="auto">
            <a:xfrm>
              <a:off x="11680956" y="1981200"/>
              <a:ext cx="507868" cy="4267200"/>
            </a:xfrm>
            <a:prstGeom prst="rect">
              <a:avLst/>
            </a:prstGeom>
            <a:gradFill rotWithShape="0">
              <a:gsLst>
                <a:gs pos="0">
                  <a:schemeClr val="tx2">
                    <a:lumMod val="20000"/>
                    <a:lumOff val="80000"/>
                  </a:schemeClr>
                </a:gs>
                <a:gs pos="100000">
                  <a:schemeClr val="tx2">
                    <a:lumMod val="60000"/>
                    <a:lumOff val="40000"/>
                  </a:schemeClr>
                </a:gs>
              </a:gsLst>
              <a:lin ang="5400000" scaled="1"/>
            </a:gradFill>
            <a:ln w="9525">
              <a:solidFill>
                <a:schemeClr val="tx1"/>
              </a:solidFill>
              <a:miter lim="800000"/>
            </a:ln>
            <a:effectLst/>
          </p:spPr>
          <p:txBody>
            <a:bodyPr wrap="none" anchor="ctr"/>
            <a:lstStyle/>
            <a:p>
              <a:pPr algn="ctr"/>
              <a:endParaRPr kumimoji="1" lang="en-US" sz="2400">
                <a:latin typeface="굴림" pitchFamily="50" charset="-127"/>
              </a:endParaRPr>
            </a:p>
          </p:txBody>
        </p:sp>
        <p:sp>
          <p:nvSpPr>
            <p:cNvPr id="10" name="Rectangle 10"/>
            <p:cNvSpPr>
              <a:spLocks noChangeArrowheads="1"/>
            </p:cNvSpPr>
            <p:nvPr/>
          </p:nvSpPr>
          <p:spPr bwMode="auto">
            <a:xfrm>
              <a:off x="-1" y="5257800"/>
              <a:ext cx="609441" cy="152400"/>
            </a:xfrm>
            <a:prstGeom prst="rect">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1" name="Rectangle 11"/>
            <p:cNvSpPr>
              <a:spLocks noChangeArrowheads="1"/>
            </p:cNvSpPr>
            <p:nvPr/>
          </p:nvSpPr>
          <p:spPr bwMode="auto">
            <a:xfrm>
              <a:off x="-1" y="5410200"/>
              <a:ext cx="609441" cy="1447800"/>
            </a:xfrm>
            <a:prstGeom prst="rect">
              <a:avLst/>
            </a:prstGeom>
            <a:solidFill>
              <a:srgbClr val="DDDDDD"/>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2" name="Rectangle 12"/>
            <p:cNvSpPr>
              <a:spLocks noChangeArrowheads="1"/>
            </p:cNvSpPr>
            <p:nvPr/>
          </p:nvSpPr>
          <p:spPr bwMode="auto">
            <a:xfrm>
              <a:off x="11680956" y="0"/>
              <a:ext cx="507868" cy="19812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3" name="Rectangle 13"/>
            <p:cNvSpPr>
              <a:spLocks noChangeArrowheads="1"/>
            </p:cNvSpPr>
            <p:nvPr/>
          </p:nvSpPr>
          <p:spPr bwMode="auto">
            <a:xfrm>
              <a:off x="7618015" y="0"/>
              <a:ext cx="4062942" cy="304800"/>
            </a:xfrm>
            <a:prstGeom prst="rect">
              <a:avLst/>
            </a:prstGeom>
            <a:solidFill>
              <a:schemeClr val="accent1"/>
            </a:solidFill>
            <a:ln w="9525">
              <a:solidFill>
                <a:schemeClr val="accent3"/>
              </a:solidFill>
              <a:miter lim="800000"/>
            </a:ln>
            <a:effectLst/>
          </p:spPr>
          <p:txBody>
            <a:bodyPr wrap="none" anchor="ctr"/>
            <a:lstStyle/>
            <a:p>
              <a:pPr algn="ctr"/>
              <a:endParaRPr kumimoji="1" lang="en-US" sz="2400">
                <a:latin typeface="굴림" pitchFamily="50" charset="-127"/>
              </a:endParaRPr>
            </a:p>
          </p:txBody>
        </p:sp>
        <p:sp>
          <p:nvSpPr>
            <p:cNvPr id="14" name="Rectangle 14"/>
            <p:cNvSpPr>
              <a:spLocks noChangeArrowheads="1"/>
            </p:cNvSpPr>
            <p:nvPr/>
          </p:nvSpPr>
          <p:spPr bwMode="auto">
            <a:xfrm>
              <a:off x="609440" y="304800"/>
              <a:ext cx="711015" cy="762000"/>
            </a:xfrm>
            <a:prstGeom prst="rect">
              <a:avLst/>
            </a:prstGeom>
            <a:solidFill>
              <a:schemeClr val="bg2">
                <a:lumMod val="50000"/>
                <a:alpha val="50000"/>
              </a:schemeClr>
            </a:solidFill>
            <a:ln w="9525">
              <a:solidFill>
                <a:schemeClr val="tx1"/>
              </a:solidFill>
              <a:miter lim="800000"/>
            </a:ln>
            <a:effectLst/>
          </p:spPr>
          <p:txBody>
            <a:bodyPr wrap="none" anchor="ctr"/>
            <a:lstStyle/>
            <a:p>
              <a:pPr algn="ctr"/>
              <a:endParaRPr kumimoji="1" lang="en-US" sz="2400">
                <a:latin typeface="굴림" pitchFamily="50" charset="-127"/>
              </a:endParaRPr>
            </a:p>
          </p:txBody>
        </p:sp>
        <p:sp>
          <p:nvSpPr>
            <p:cNvPr id="15" name="Rectangle 15"/>
            <p:cNvSpPr>
              <a:spLocks noChangeArrowheads="1"/>
            </p:cNvSpPr>
            <p:nvPr/>
          </p:nvSpPr>
          <p:spPr bwMode="auto">
            <a:xfrm>
              <a:off x="-1" y="1066800"/>
              <a:ext cx="609441" cy="4191000"/>
            </a:xfrm>
            <a:prstGeom prst="rect">
              <a:avLst/>
            </a:prstGeom>
            <a:gradFill rotWithShape="0">
              <a:gsLst>
                <a:gs pos="0">
                  <a:schemeClr val="bg2">
                    <a:lumMod val="50000"/>
                  </a:schemeClr>
                </a:gs>
                <a:gs pos="100000">
                  <a:schemeClr val="bg1"/>
                </a:gs>
              </a:gsLst>
              <a:lin ang="5400000" scaled="1"/>
            </a:gradFill>
            <a:ln w="9525">
              <a:solidFill>
                <a:schemeClr val="tx1"/>
              </a:solidFill>
              <a:miter lim="800000"/>
            </a:ln>
            <a:effectLst/>
          </p:spPr>
          <p:txBody>
            <a:bodyPr wrap="none" anchor="ctr"/>
            <a:lstStyle/>
            <a:p>
              <a:pPr algn="ctr"/>
              <a:endParaRPr kumimoji="1" lang="en-US" sz="2400">
                <a:latin typeface="굴림" pitchFamily="50" charset="-127"/>
              </a:endParaRPr>
            </a:p>
          </p:txBody>
        </p:sp>
        <p:sp>
          <p:nvSpPr>
            <p:cNvPr id="16" name="Rectangle 16"/>
            <p:cNvSpPr>
              <a:spLocks noChangeArrowheads="1"/>
            </p:cNvSpPr>
            <p:nvPr/>
          </p:nvSpPr>
          <p:spPr bwMode="auto">
            <a:xfrm>
              <a:off x="-1" y="304800"/>
              <a:ext cx="609441" cy="7620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7" name="Rectangle 17"/>
            <p:cNvSpPr>
              <a:spLocks noChangeArrowheads="1"/>
            </p:cNvSpPr>
            <p:nvPr/>
          </p:nvSpPr>
          <p:spPr bwMode="auto">
            <a:xfrm>
              <a:off x="-1" y="0"/>
              <a:ext cx="1320456" cy="304800"/>
            </a:xfrm>
            <a:prstGeom prst="rect">
              <a:avLst/>
            </a:prstGeom>
            <a:solidFill>
              <a:schemeClr val="accent1"/>
            </a:solidFill>
            <a:ln w="19050">
              <a:solidFill>
                <a:schemeClr val="accent1"/>
              </a:solidFill>
              <a:miter lim="800000"/>
            </a:ln>
            <a:effectLst/>
          </p:spPr>
          <p:txBody>
            <a:bodyPr wrap="none" anchor="ctr"/>
            <a:lstStyle/>
            <a:p>
              <a:pPr algn="ctr"/>
              <a:endParaRPr kumimoji="1" lang="en-US" sz="2400">
                <a:latin typeface="굴림" pitchFamily="50" charset="-127"/>
              </a:endParaRPr>
            </a:p>
          </p:txBody>
        </p:sp>
        <p:sp>
          <p:nvSpPr>
            <p:cNvPr id="18" name="Rectangle 18"/>
            <p:cNvSpPr>
              <a:spLocks noChangeArrowheads="1"/>
            </p:cNvSpPr>
            <p:nvPr/>
          </p:nvSpPr>
          <p:spPr bwMode="auto">
            <a:xfrm>
              <a:off x="1320455" y="0"/>
              <a:ext cx="6297560" cy="304800"/>
            </a:xfrm>
            <a:prstGeom prst="rect">
              <a:avLst/>
            </a:prstGeom>
            <a:solidFill>
              <a:schemeClr val="bg1"/>
            </a:solidFill>
            <a:ln w="9525">
              <a:solidFill>
                <a:srgbClr val="8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sz="2400">
                <a:latin typeface="굴림" pitchFamily="50" charset="-127"/>
              </a:endParaRPr>
            </a:p>
          </p:txBody>
        </p:sp>
        <p:sp>
          <p:nvSpPr>
            <p:cNvPr id="19" name="Line 19"/>
            <p:cNvSpPr>
              <a:spLocks noChangeShapeType="1"/>
            </p:cNvSpPr>
            <p:nvPr/>
          </p:nvSpPr>
          <p:spPr bwMode="auto">
            <a:xfrm flipV="1">
              <a:off x="609440" y="304800"/>
              <a:ext cx="0" cy="6553200"/>
            </a:xfrm>
            <a:prstGeom prst="line">
              <a:avLst/>
            </a:prstGeom>
            <a:noFill/>
            <a:ln w="76200">
              <a:solidFill>
                <a:srgbClr val="8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20"/>
            <p:cNvSpPr>
              <a:spLocks noChangeShapeType="1"/>
            </p:cNvSpPr>
            <p:nvPr/>
          </p:nvSpPr>
          <p:spPr bwMode="auto">
            <a:xfrm>
              <a:off x="609440" y="6705600"/>
              <a:ext cx="11579384" cy="0"/>
            </a:xfrm>
            <a:prstGeom prst="line">
              <a:avLst/>
            </a:prstGeom>
            <a:noFill/>
            <a:ln w="57150">
              <a:solidFill>
                <a:srgbClr val="8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1"/>
            <p:cNvSpPr>
              <a:spLocks noChangeShapeType="1"/>
            </p:cNvSpPr>
            <p:nvPr/>
          </p:nvSpPr>
          <p:spPr bwMode="auto">
            <a:xfrm flipV="1">
              <a:off x="11680956" y="0"/>
              <a:ext cx="0" cy="6705600"/>
            </a:xfrm>
            <a:prstGeom prst="line">
              <a:avLst/>
            </a:prstGeom>
            <a:noFill/>
            <a:ln w="57150">
              <a:solidFill>
                <a:srgbClr val="8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2"/>
            <p:cNvSpPr>
              <a:spLocks noChangeShapeType="1"/>
            </p:cNvSpPr>
            <p:nvPr/>
          </p:nvSpPr>
          <p:spPr bwMode="auto">
            <a:xfrm>
              <a:off x="-1" y="304800"/>
              <a:ext cx="12188825" cy="0"/>
            </a:xfrm>
            <a:prstGeom prst="line">
              <a:avLst/>
            </a:prstGeom>
            <a:noFill/>
            <a:ln w="38100">
              <a:solidFill>
                <a:srgbClr val="8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Line 23"/>
            <p:cNvSpPr>
              <a:spLocks noChangeShapeType="1"/>
            </p:cNvSpPr>
            <p:nvPr/>
          </p:nvSpPr>
          <p:spPr bwMode="auto">
            <a:xfrm flipH="1">
              <a:off x="7618015" y="457200"/>
              <a:ext cx="4570809" cy="0"/>
            </a:xfrm>
            <a:prstGeom prst="line">
              <a:avLst/>
            </a:prstGeom>
            <a:noFill/>
            <a:ln w="19050">
              <a:solidFill>
                <a:srgbClr val="8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Line 24"/>
            <p:cNvSpPr>
              <a:spLocks noChangeShapeType="1"/>
            </p:cNvSpPr>
            <p:nvPr/>
          </p:nvSpPr>
          <p:spPr bwMode="auto">
            <a:xfrm flipV="1">
              <a:off x="7618015" y="0"/>
              <a:ext cx="0" cy="457200"/>
            </a:xfrm>
            <a:prstGeom prst="line">
              <a:avLst/>
            </a:prstGeom>
            <a:noFill/>
            <a:ln w="19050">
              <a:solidFill>
                <a:srgbClr val="8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 name="Line 25"/>
            <p:cNvSpPr>
              <a:spLocks noChangeShapeType="1"/>
            </p:cNvSpPr>
            <p:nvPr/>
          </p:nvSpPr>
          <p:spPr bwMode="auto">
            <a:xfrm>
              <a:off x="11680956" y="1981200"/>
              <a:ext cx="5078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 name="Line 26"/>
            <p:cNvSpPr>
              <a:spLocks noChangeShapeType="1"/>
            </p:cNvSpPr>
            <p:nvPr/>
          </p:nvSpPr>
          <p:spPr bwMode="auto">
            <a:xfrm>
              <a:off x="1320455" y="0"/>
              <a:ext cx="0" cy="1066800"/>
            </a:xfrm>
            <a:prstGeom prst="line">
              <a:avLst/>
            </a:prstGeom>
            <a:noFill/>
            <a:ln w="19050">
              <a:solidFill>
                <a:srgbClr val="8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 name="Line 27"/>
            <p:cNvSpPr>
              <a:spLocks noChangeShapeType="1"/>
            </p:cNvSpPr>
            <p:nvPr/>
          </p:nvSpPr>
          <p:spPr bwMode="auto">
            <a:xfrm flipH="1">
              <a:off x="-1" y="1066800"/>
              <a:ext cx="1320456" cy="0"/>
            </a:xfrm>
            <a:prstGeom prst="line">
              <a:avLst/>
            </a:prstGeom>
            <a:noFill/>
            <a:ln w="28575">
              <a:solidFill>
                <a:srgbClr val="8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30"/>
            <p:cNvSpPr>
              <a:spLocks noChangeShapeType="1"/>
            </p:cNvSpPr>
            <p:nvPr/>
          </p:nvSpPr>
          <p:spPr bwMode="auto">
            <a:xfrm flipH="1">
              <a:off x="-1" y="5257800"/>
              <a:ext cx="609441" cy="0"/>
            </a:xfrm>
            <a:prstGeom prst="line">
              <a:avLst/>
            </a:prstGeom>
            <a:noFill/>
            <a:ln w="28575">
              <a:solidFill>
                <a:srgbClr val="8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31"/>
            <p:cNvSpPr>
              <a:spLocks noChangeShapeType="1"/>
            </p:cNvSpPr>
            <p:nvPr/>
          </p:nvSpPr>
          <p:spPr bwMode="auto">
            <a:xfrm flipH="1">
              <a:off x="-1" y="5410200"/>
              <a:ext cx="609441" cy="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 name="Title Placeholder 1"/>
          <p:cNvSpPr>
            <a:spLocks noGrp="1"/>
          </p:cNvSpPr>
          <p:nvPr>
            <p:ph type="title"/>
          </p:nvPr>
        </p:nvSpPr>
        <p:spPr>
          <a:xfrm>
            <a:off x="1522414" y="533400"/>
            <a:ext cx="9601200" cy="11430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522414" y="1828800"/>
            <a:ext cx="9601200" cy="4191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17950" y="6172200"/>
            <a:ext cx="6862462" cy="273049"/>
          </a:xfrm>
          <a:prstGeom prst="rect">
            <a:avLst/>
          </a:prstGeom>
        </p:spPr>
        <p:txBody>
          <a:bodyPr vert="horz" lIns="91440" tIns="45720" rIns="91440" bIns="45720" rtlCol="0" anchor="ctr"/>
          <a:lstStyle>
            <a:lvl1pPr algn="l">
              <a:defRPr sz="1100">
                <a:solidFill>
                  <a:schemeClr val="tx1"/>
                </a:solidFill>
              </a:defRPr>
            </a:lvl1pPr>
          </a:lstStyle>
          <a:p>
            <a:r>
              <a:rPr lang="en-US"/>
              <a:t>OOTs Using JAVA Project PPT 2024-25 Odd Sem</a:t>
            </a:r>
            <a:endParaRPr lang="en-US" dirty="0"/>
          </a:p>
        </p:txBody>
      </p:sp>
      <p:sp>
        <p:nvSpPr>
          <p:cNvPr id="4" name="Date Placeholder 3"/>
          <p:cNvSpPr>
            <a:spLocks noGrp="1"/>
          </p:cNvSpPr>
          <p:nvPr>
            <p:ph type="dt" sz="half" idx="2"/>
          </p:nvPr>
        </p:nvSpPr>
        <p:spPr>
          <a:xfrm>
            <a:off x="8609012" y="6172200"/>
            <a:ext cx="1320059" cy="273049"/>
          </a:xfrm>
          <a:prstGeom prst="rect">
            <a:avLst/>
          </a:prstGeom>
        </p:spPr>
        <p:txBody>
          <a:bodyPr vert="horz" lIns="91440" tIns="45720" rIns="91440" bIns="45720" rtlCol="0" anchor="ctr"/>
          <a:lstStyle>
            <a:lvl1pPr algn="r">
              <a:defRPr sz="1100">
                <a:solidFill>
                  <a:schemeClr val="tx1"/>
                </a:solidFill>
              </a:defRPr>
            </a:lvl1pPr>
          </a:lstStyle>
          <a:p>
            <a:fld id="{3DC96E31-04A2-4C47-8F1A-B56592412ED0}" type="datetime1">
              <a:rPr lang="en-US" smtClean="0"/>
              <a:t>4/11/2025</a:t>
            </a:fld>
            <a:endParaRPr lang="en-US"/>
          </a:p>
        </p:txBody>
      </p:sp>
      <p:sp>
        <p:nvSpPr>
          <p:cNvPr id="6" name="Slide Number Placeholder 5"/>
          <p:cNvSpPr>
            <a:spLocks noGrp="1"/>
          </p:cNvSpPr>
          <p:nvPr>
            <p:ph type="sldNum" sz="quarter" idx="4"/>
          </p:nvPr>
        </p:nvSpPr>
        <p:spPr>
          <a:xfrm>
            <a:off x="10133012" y="6172200"/>
            <a:ext cx="990601" cy="273049"/>
          </a:xfrm>
          <a:prstGeom prst="rect">
            <a:avLst/>
          </a:prstGeom>
        </p:spPr>
        <p:txBody>
          <a:bodyPr vert="horz" lIns="91440" tIns="45720" rIns="91440" bIns="45720" rtlCol="0" anchor="ctr"/>
          <a:lstStyle>
            <a:lvl1pPr algn="r">
              <a:defRPr sz="1100">
                <a:solidFill>
                  <a:schemeClr val="tx1"/>
                </a:solidFill>
              </a:defRPr>
            </a:lvl1pPr>
          </a:lstStyle>
          <a:p>
            <a:fld id="{E5137D0E-4A4F-4307-8994-C1891D747D5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4155" indent="-224155" algn="l" defTabSz="914400" rtl="0" eaLnBrk="1" latinLnBrk="0" hangingPunct="1">
        <a:lnSpc>
          <a:spcPct val="90000"/>
        </a:lnSpc>
        <a:spcBef>
          <a:spcPts val="1800"/>
        </a:spcBef>
        <a:buClr>
          <a:schemeClr val="accent2"/>
        </a:buClr>
        <a:buFont typeface="Arial" panose="020B0604020202020204" pitchFamily="34" charset="0"/>
        <a:buChar char="•"/>
        <a:defRPr sz="2000" kern="1200">
          <a:solidFill>
            <a:schemeClr val="tx1"/>
          </a:solidFill>
          <a:latin typeface="+mn-lt"/>
          <a:ea typeface="+mn-ea"/>
          <a:cs typeface="+mn-cs"/>
        </a:defRPr>
      </a:lvl1pPr>
      <a:lvl2pPr marL="502920" indent="-224155" algn="l" defTabSz="914400" rtl="0" eaLnBrk="1" latinLnBrk="0" hangingPunct="1">
        <a:lnSpc>
          <a:spcPct val="90000"/>
        </a:lnSpc>
        <a:spcBef>
          <a:spcPts val="800"/>
        </a:spcBef>
        <a:buClr>
          <a:schemeClr val="accent2"/>
        </a:buClr>
        <a:buFont typeface="Arial" panose="020B0604020202020204" pitchFamily="34" charset="0"/>
        <a:buChar char="–"/>
        <a:defRPr sz="1800" kern="1200">
          <a:solidFill>
            <a:schemeClr val="tx1"/>
          </a:solidFill>
          <a:latin typeface="+mn-lt"/>
          <a:ea typeface="+mn-ea"/>
          <a:cs typeface="+mn-cs"/>
        </a:defRPr>
      </a:lvl2pPr>
      <a:lvl3pPr marL="741680" indent="-171450" algn="l" defTabSz="914400" rtl="0" eaLnBrk="1" latinLnBrk="0" hangingPunct="1">
        <a:lnSpc>
          <a:spcPct val="9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3pPr>
      <a:lvl4pPr marL="967105" indent="-173355" algn="l" defTabSz="914400" rtl="0" eaLnBrk="1" latinLnBrk="0" hangingPunct="1">
        <a:lnSpc>
          <a:spcPct val="90000"/>
        </a:lnSpc>
        <a:spcBef>
          <a:spcPts val="600"/>
        </a:spcBef>
        <a:buClr>
          <a:schemeClr val="accent2"/>
        </a:buClr>
        <a:buFont typeface="Arial" panose="020B0604020202020204" pitchFamily="34" charset="0"/>
        <a:buChar char="–"/>
        <a:defRPr sz="1400" kern="1200">
          <a:solidFill>
            <a:schemeClr val="tx1"/>
          </a:solidFill>
          <a:latin typeface="+mn-lt"/>
          <a:ea typeface="+mn-ea"/>
          <a:cs typeface="+mn-cs"/>
        </a:defRPr>
      </a:lvl4pPr>
      <a:lvl5pPr marL="1208405" indent="-173355" algn="l" defTabSz="914400" rtl="0" eaLnBrk="1" latinLnBrk="0" hangingPunct="1">
        <a:lnSpc>
          <a:spcPct val="90000"/>
        </a:lnSpc>
        <a:spcBef>
          <a:spcPts val="600"/>
        </a:spcBef>
        <a:buClr>
          <a:schemeClr val="accent2"/>
        </a:buClr>
        <a:buFont typeface="Arial" panose="020B0604020202020204" pitchFamily="34" charset="0"/>
        <a:buChar char="•"/>
        <a:defRPr sz="1400" kern="1200">
          <a:solidFill>
            <a:schemeClr val="tx1"/>
          </a:solidFill>
          <a:latin typeface="+mn-lt"/>
          <a:ea typeface="+mn-ea"/>
          <a:cs typeface="+mn-cs"/>
        </a:defRPr>
      </a:lvl5pPr>
      <a:lvl6pPr marL="1444625" indent="-17399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6pPr>
      <a:lvl7pPr marL="1682750" indent="-17399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7pPr>
      <a:lvl8pPr marL="1920240" indent="-17399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8pPr>
      <a:lvl9pPr marL="2157730" indent="-17399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mongodb.com/docs" TargetMode="External"/><Relationship Id="rId2" Type="http://schemas.openxmlformats.org/officeDocument/2006/relationships/hyperlink" Target="https://developer.twitter.com/" TargetMode="External"/><Relationship Id="rId1" Type="http://schemas.openxmlformats.org/officeDocument/2006/relationships/slideLayout" Target="../slideLayouts/slideLayout2.xml"/><Relationship Id="rId6" Type="http://schemas.openxmlformats.org/officeDocument/2006/relationships/hyperlink" Target="https://pymongo.readthedocs.io/" TargetMode="External"/><Relationship Id="rId5" Type="http://schemas.openxmlformats.org/officeDocument/2006/relationships/hyperlink" Target="https://docs.streamlit.io/" TargetMode="External"/><Relationship Id="rId4" Type="http://schemas.openxmlformats.org/officeDocument/2006/relationships/hyperlink" Target="https://docs.python.or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293813" y="926631"/>
            <a:ext cx="9601200" cy="1143000"/>
          </a:xfrm>
        </p:spPr>
        <p:txBody>
          <a:bodyPr>
            <a:normAutofit/>
          </a:bodyPr>
          <a:lstStyle/>
          <a:p>
            <a:pPr algn="ctr"/>
            <a:r>
              <a:rPr lang="en-US" b="1" dirty="0">
                <a:latin typeface="Arial" panose="020B0604020202020204"/>
                <a:cs typeface="Arial" panose="020B0604020202020204"/>
                <a:sym typeface="+mn-ea"/>
              </a:rPr>
              <a:t>Twitter Feed Analyzer</a:t>
            </a:r>
            <a:br>
              <a:rPr lang="en-US" b="1" dirty="0">
                <a:latin typeface="Arial" panose="020B0604020202020204"/>
                <a:cs typeface="Arial" panose="020B0604020202020204"/>
                <a:sym typeface="+mn-ea"/>
              </a:rPr>
            </a:br>
            <a:r>
              <a:rPr lang="en-US" b="1" dirty="0">
                <a:latin typeface="Arial" panose="020B0604020202020204"/>
                <a:cs typeface="Arial" panose="020B0604020202020204"/>
                <a:sym typeface="+mn-ea"/>
              </a:rPr>
              <a:t>DBMS (BCSE0452)</a:t>
            </a:r>
            <a:endParaRPr lang="en-US" b="1" dirty="0">
              <a:latin typeface="Arial" panose="020B0604020202020204" pitchFamily="34" charset="0"/>
              <a:cs typeface="Arial" panose="020B0604020202020204" pitchFamily="34" charset="0"/>
            </a:endParaRPr>
          </a:p>
        </p:txBody>
      </p:sp>
      <p:sp>
        <p:nvSpPr>
          <p:cNvPr id="14" name="Content Placeholder 13"/>
          <p:cNvSpPr>
            <a:spLocks noGrp="1"/>
          </p:cNvSpPr>
          <p:nvPr>
            <p:ph idx="1"/>
          </p:nvPr>
        </p:nvSpPr>
        <p:spPr>
          <a:xfrm>
            <a:off x="1414145" y="2417445"/>
            <a:ext cx="9601200" cy="1818640"/>
          </a:xfrm>
        </p:spPr>
        <p:txBody>
          <a:bodyPr>
            <a:normAutofit/>
          </a:bodyPr>
          <a:lstStyle/>
          <a:p>
            <a:pPr marL="0" lvl="0" indent="0" algn="ctr">
              <a:buNone/>
            </a:pPr>
            <a:endParaRPr lang="en-US" sz="1600" dirty="0">
              <a:latin typeface="Arial" panose="020B0604020202020204" pitchFamily="34" charset="0"/>
              <a:cs typeface="Arial" panose="020B0604020202020204" pitchFamily="34" charset="0"/>
            </a:endParaRPr>
          </a:p>
          <a:p>
            <a:pPr marL="0" lvl="0" indent="0" algn="ctr">
              <a:buNone/>
            </a:pPr>
            <a:endParaRPr lang="en-US" sz="1600" dirty="0">
              <a:latin typeface="Arial" panose="020B0604020202020204" pitchFamily="34" charset="0"/>
              <a:cs typeface="Arial" panose="020B0604020202020204" pitchFamily="34" charset="0"/>
            </a:endParaRPr>
          </a:p>
          <a:p>
            <a:pPr marL="0" lvl="0" indent="0" algn="ctr">
              <a:buNone/>
            </a:pPr>
            <a:r>
              <a:rPr lang="en-US" b="1" dirty="0">
                <a:solidFill>
                  <a:srgbClr val="6E1D6B"/>
                </a:solidFill>
                <a:latin typeface="Arial" panose="020B0604020202020204" pitchFamily="34" charset="0"/>
                <a:cs typeface="Arial" panose="020B0604020202020204" pitchFamily="34" charset="0"/>
              </a:rPr>
              <a:t>Department of Computer Science and Engineering </a:t>
            </a:r>
          </a:p>
          <a:p>
            <a:pPr marL="0" lvl="0" indent="0" algn="ctr">
              <a:buNone/>
            </a:pPr>
            <a:r>
              <a:rPr lang="en-US" b="1" dirty="0">
                <a:solidFill>
                  <a:srgbClr val="6E1D6B"/>
                </a:solidFill>
                <a:latin typeface="Arial" panose="020B0604020202020204" pitchFamily="34" charset="0"/>
                <a:cs typeface="Arial" panose="020B0604020202020204" pitchFamily="34" charset="0"/>
              </a:rPr>
              <a:t>(Submitted To: </a:t>
            </a:r>
            <a:r>
              <a:rPr lang="en-US" dirty="0">
                <a:solidFill>
                  <a:srgbClr val="6E1D6B"/>
                </a:solidFill>
                <a:latin typeface="Arial" panose="020B0604020202020204" pitchFamily="34" charset="0"/>
                <a:cs typeface="Arial" panose="020B0604020202020204" pitchFamily="34" charset="0"/>
              </a:rPr>
              <a:t>Ms. Sana Anjum</a:t>
            </a:r>
            <a:r>
              <a:rPr lang="en-US" b="1" dirty="0">
                <a:solidFill>
                  <a:srgbClr val="6E1D6B"/>
                </a:solidFill>
                <a:latin typeface="Arial" panose="020B0604020202020204" pitchFamily="34" charset="0"/>
                <a:cs typeface="Arial" panose="020B0604020202020204" pitchFamily="34" charset="0"/>
              </a:rPr>
              <a:t>)</a:t>
            </a:r>
          </a:p>
          <a:p>
            <a:pPr marL="0" lvl="0" indent="0" algn="ctr">
              <a:buNone/>
            </a:pPr>
            <a:endParaRPr lang="en-US" dirty="0">
              <a:latin typeface="Times New Roman" panose="02020603050405020304" pitchFamily="18" charset="0"/>
              <a:cs typeface="Times New Roman" panose="02020603050405020304" pitchFamily="18" charset="0"/>
            </a:endParaRPr>
          </a:p>
          <a:p>
            <a:pPr marL="0" lvl="0" indent="0" algn="ctr">
              <a:buNone/>
            </a:pPr>
            <a:endParaRPr lang="en-US" dirty="0"/>
          </a:p>
          <a:p>
            <a:pPr marL="0" lvl="0" indent="0" algn="ctr">
              <a:buNone/>
            </a:pPr>
            <a:endParaRPr lang="en-US" dirty="0"/>
          </a:p>
          <a:p>
            <a:pPr marL="0" lvl="0" indent="0" algn="ctr">
              <a:buNone/>
            </a:pPr>
            <a:endParaRPr lang="en-US" dirty="0"/>
          </a:p>
          <a:p>
            <a:pPr marL="0" lvl="0" indent="0" algn="ctr">
              <a:buNone/>
            </a:pPr>
            <a:endParaRPr lang="en-US" dirty="0"/>
          </a:p>
        </p:txBody>
      </p:sp>
      <p:graphicFrame>
        <p:nvGraphicFramePr>
          <p:cNvPr id="6" name="Table 5"/>
          <p:cNvGraphicFramePr>
            <a:graphicFrameLocks noGrp="1"/>
          </p:cNvGraphicFramePr>
          <p:nvPr>
            <p:custDataLst>
              <p:tags r:id="rId1"/>
            </p:custDataLst>
            <p:extLst>
              <p:ext uri="{D42A27DB-BD31-4B8C-83A1-F6EECF244321}">
                <p14:modId xmlns:p14="http://schemas.microsoft.com/office/powerpoint/2010/main" val="1546044642"/>
              </p:ext>
            </p:extLst>
          </p:nvPr>
        </p:nvGraphicFramePr>
        <p:xfrm>
          <a:off x="2079625" y="4869180"/>
          <a:ext cx="8270240" cy="944245"/>
        </p:xfrm>
        <a:graphic>
          <a:graphicData uri="http://schemas.openxmlformats.org/drawingml/2006/table">
            <a:tbl>
              <a:tblPr firstRow="1" bandRow="1">
                <a:tableStyleId>{5C22544A-7EE6-4342-B048-85BDC9FD1C3A}</a:tableStyleId>
              </a:tblPr>
              <a:tblGrid>
                <a:gridCol w="2355215">
                  <a:extLst>
                    <a:ext uri="{9D8B030D-6E8A-4147-A177-3AD203B41FA5}">
                      <a16:colId xmlns:a16="http://schemas.microsoft.com/office/drawing/2014/main" val="20000"/>
                    </a:ext>
                  </a:extLst>
                </a:gridCol>
                <a:gridCol w="2983865">
                  <a:extLst>
                    <a:ext uri="{9D8B030D-6E8A-4147-A177-3AD203B41FA5}">
                      <a16:colId xmlns:a16="http://schemas.microsoft.com/office/drawing/2014/main" val="20001"/>
                    </a:ext>
                  </a:extLst>
                </a:gridCol>
                <a:gridCol w="2931160">
                  <a:extLst>
                    <a:ext uri="{9D8B030D-6E8A-4147-A177-3AD203B41FA5}">
                      <a16:colId xmlns:a16="http://schemas.microsoft.com/office/drawing/2014/main" val="20002"/>
                    </a:ext>
                  </a:extLst>
                </a:gridCol>
              </a:tblGrid>
              <a:tr h="504190">
                <a:tc>
                  <a:txBody>
                    <a:bodyPr/>
                    <a:lstStyle/>
                    <a:p>
                      <a:pPr algn="ctr"/>
                      <a:r>
                        <a:rPr lang="en-US" sz="1800" dirty="0">
                          <a:latin typeface="Arial" panose="020B0604020202020204" pitchFamily="34" charset="0"/>
                          <a:cs typeface="Arial" panose="020B0604020202020204" pitchFamily="34" charset="0"/>
                        </a:rPr>
                        <a:t>Student Name</a:t>
                      </a:r>
                    </a:p>
                  </a:txBody>
                  <a:tcPr/>
                </a:tc>
                <a:tc>
                  <a:txBody>
                    <a:bodyPr/>
                    <a:lstStyle/>
                    <a:p>
                      <a:pPr algn="ctr"/>
                      <a:r>
                        <a:rPr lang="en-US" sz="1800" dirty="0">
                          <a:latin typeface="Arial" panose="020B0604020202020204" pitchFamily="34" charset="0"/>
                          <a:cs typeface="Arial" panose="020B0604020202020204" pitchFamily="34" charset="0"/>
                        </a:rPr>
                        <a:t>Roll Number</a:t>
                      </a:r>
                    </a:p>
                  </a:txBody>
                  <a:tcPr/>
                </a:tc>
                <a:tc>
                  <a:txBody>
                    <a:bodyPr/>
                    <a:lstStyle/>
                    <a:p>
                      <a:pPr algn="ctr"/>
                      <a:r>
                        <a:rPr lang="en-US" sz="1800" dirty="0">
                          <a:latin typeface="Arial" panose="020B0604020202020204" pitchFamily="34" charset="0"/>
                          <a:cs typeface="Arial" panose="020B0604020202020204" pitchFamily="34" charset="0"/>
                        </a:rPr>
                        <a:t>Department and Section</a:t>
                      </a:r>
                    </a:p>
                  </a:txBody>
                  <a:tcPr/>
                </a:tc>
                <a:extLst>
                  <a:ext uri="{0D108BD9-81ED-4DB2-BD59-A6C34878D82A}">
                    <a16:rowId xmlns:a16="http://schemas.microsoft.com/office/drawing/2014/main" val="10000"/>
                  </a:ext>
                </a:extLst>
              </a:tr>
              <a:tr h="440055">
                <a:tc>
                  <a:txBody>
                    <a:bodyPr/>
                    <a:lstStyle/>
                    <a:p>
                      <a:pPr algn="ctr"/>
                      <a:r>
                        <a:rPr lang="en-US" sz="1800" b="1" dirty="0">
                          <a:solidFill>
                            <a:srgbClr val="6E1D6B"/>
                          </a:solidFill>
                          <a:latin typeface="Arial" panose="020B0604020202020204" pitchFamily="34" charset="0"/>
                          <a:cs typeface="Arial" panose="020B0604020202020204" pitchFamily="34" charset="0"/>
                        </a:rPr>
                        <a:t>Suryansh Singh</a:t>
                      </a:r>
                    </a:p>
                  </a:txBody>
                  <a:tcPr/>
                </a:tc>
                <a:tc>
                  <a:txBody>
                    <a:bodyPr/>
                    <a:lstStyle/>
                    <a:p>
                      <a:pPr algn="ctr"/>
                      <a:r>
                        <a:rPr lang="en-US" sz="1800" b="1" dirty="0">
                          <a:solidFill>
                            <a:srgbClr val="6E1D6B"/>
                          </a:solidFill>
                          <a:latin typeface="Arial" panose="020B0604020202020204" pitchFamily="34" charset="0"/>
                          <a:cs typeface="Arial" panose="020B0604020202020204" pitchFamily="34" charset="0"/>
                        </a:rPr>
                        <a:t>2301330100208</a:t>
                      </a:r>
                    </a:p>
                  </a:txBody>
                  <a:tcPr/>
                </a:tc>
                <a:tc>
                  <a:txBody>
                    <a:bodyPr/>
                    <a:lstStyle/>
                    <a:p>
                      <a:pPr algn="ctr"/>
                      <a:r>
                        <a:rPr lang="en-US" sz="1600" b="1" dirty="0">
                          <a:solidFill>
                            <a:srgbClr val="6E1D6B"/>
                          </a:solidFill>
                          <a:latin typeface="Arial" panose="020B0604020202020204" pitchFamily="34" charset="0"/>
                          <a:cs typeface="Arial" panose="020B0604020202020204" pitchFamily="34" charset="0"/>
                        </a:rPr>
                        <a:t>BTECH, CSE A</a:t>
                      </a:r>
                    </a:p>
                  </a:txBody>
                  <a:tcPr/>
                </a:tc>
                <a:extLst>
                  <a:ext uri="{0D108BD9-81ED-4DB2-BD59-A6C34878D82A}">
                    <a16:rowId xmlns:a16="http://schemas.microsoft.com/office/drawing/2014/main" val="10001"/>
                  </a:ext>
                </a:extLst>
              </a:tr>
            </a:tbl>
          </a:graphicData>
        </a:graphic>
      </p:graphicFrame>
      <p:pic>
        <p:nvPicPr>
          <p:cNvPr id="2" name="Picture 1" descr="A black and red logo&#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34600" y="548640"/>
            <a:ext cx="1462405" cy="6267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panose="020B0604020202020204" pitchFamily="34" charset="0"/>
                <a:cs typeface="Arial" panose="020B0604020202020204" pitchFamily="34" charset="0"/>
              </a:rPr>
              <a:t>Index</a:t>
            </a:r>
          </a:p>
        </p:txBody>
      </p:sp>
      <p:sp>
        <p:nvSpPr>
          <p:cNvPr id="3" name="Content Placeholder 2"/>
          <p:cNvSpPr>
            <a:spLocks noGrp="1"/>
          </p:cNvSpPr>
          <p:nvPr>
            <p:ph idx="1"/>
          </p:nvPr>
        </p:nvSpPr>
        <p:spPr/>
        <p:txBody>
          <a:bodyPr>
            <a:normAutofit fontScale="97500" lnSpcReduction="10000"/>
          </a:bodyPr>
          <a:lstStyle/>
          <a:p>
            <a:r>
              <a:rPr lang="en-US">
                <a:solidFill>
                  <a:srgbClr val="6E1D6B"/>
                </a:solidFill>
                <a:latin typeface="Arial" panose="020B0604020202020204"/>
                <a:cs typeface="Arial" panose="020B0604020202020204"/>
                <a:sym typeface="+mn-ea"/>
              </a:rPr>
              <a:t>Introduction</a:t>
            </a:r>
            <a:endParaRPr lang="en-US">
              <a:solidFill>
                <a:srgbClr val="6E1D6B"/>
              </a:solidFill>
              <a:latin typeface="Arial" panose="020B0604020202020204"/>
              <a:cs typeface="Arial" panose="020B0604020202020204"/>
            </a:endParaRPr>
          </a:p>
          <a:p>
            <a:pPr marL="223520" indent="-223520"/>
            <a:r>
              <a:rPr lang="en-US">
                <a:solidFill>
                  <a:srgbClr val="6E1D6B"/>
                </a:solidFill>
                <a:latin typeface="Arial" panose="020B0604020202020204"/>
                <a:cs typeface="Arial" panose="020B0604020202020204"/>
                <a:sym typeface="+mn-ea"/>
              </a:rPr>
              <a:t>Literature Survey/Existing System</a:t>
            </a:r>
            <a:endParaRPr lang="en-US">
              <a:solidFill>
                <a:srgbClr val="6E1D6B"/>
              </a:solidFill>
              <a:latin typeface="Arial" panose="020B0604020202020204"/>
              <a:cs typeface="Arial" panose="020B0604020202020204"/>
            </a:endParaRPr>
          </a:p>
          <a:p>
            <a:pPr marL="223520" indent="-223520"/>
            <a:r>
              <a:rPr lang="en-US">
                <a:solidFill>
                  <a:srgbClr val="6E1D6B"/>
                </a:solidFill>
                <a:latin typeface="Arial" panose="020B0604020202020204"/>
                <a:cs typeface="Arial" panose="020B0604020202020204"/>
                <a:sym typeface="+mn-ea"/>
              </a:rPr>
              <a:t>Problem Statement</a:t>
            </a:r>
            <a:endParaRPr lang="en-US">
              <a:solidFill>
                <a:srgbClr val="6E1D6B"/>
              </a:solidFill>
              <a:latin typeface="Arial" panose="020B0604020202020204"/>
              <a:cs typeface="Arial" panose="020B0604020202020204"/>
            </a:endParaRPr>
          </a:p>
          <a:p>
            <a:pPr marL="223520" indent="-223520"/>
            <a:r>
              <a:rPr lang="en-US">
                <a:solidFill>
                  <a:srgbClr val="6E1D6B"/>
                </a:solidFill>
                <a:latin typeface="Arial" panose="020B0604020202020204"/>
                <a:cs typeface="Arial" panose="020B0604020202020204"/>
                <a:sym typeface="+mn-ea"/>
              </a:rPr>
              <a:t>Proposed Methodology</a:t>
            </a:r>
            <a:endParaRPr lang="en-US">
              <a:solidFill>
                <a:srgbClr val="6E1D6B"/>
              </a:solidFill>
              <a:latin typeface="Arial" panose="020B0604020202020204"/>
              <a:cs typeface="Arial" panose="020B0604020202020204"/>
            </a:endParaRPr>
          </a:p>
          <a:p>
            <a:pPr marL="223520" indent="-223520"/>
            <a:r>
              <a:rPr lang="en-US">
                <a:solidFill>
                  <a:srgbClr val="6E1D6B"/>
                </a:solidFill>
                <a:latin typeface="Arial" panose="020B0604020202020204"/>
                <a:cs typeface="Arial" panose="020B0604020202020204"/>
                <a:sym typeface="+mn-ea"/>
              </a:rPr>
              <a:t>Flowcharts and Use Case/ER Diagrams</a:t>
            </a:r>
            <a:endParaRPr lang="en-US">
              <a:solidFill>
                <a:srgbClr val="6E1D6B"/>
              </a:solidFill>
              <a:latin typeface="Arial" panose="020B0604020202020204"/>
              <a:cs typeface="Arial" panose="020B0604020202020204"/>
            </a:endParaRPr>
          </a:p>
          <a:p>
            <a:pPr marL="223520" indent="-223520"/>
            <a:r>
              <a:rPr lang="en-US">
                <a:solidFill>
                  <a:srgbClr val="6E1D6B"/>
                </a:solidFill>
                <a:latin typeface="Arial" panose="020B0604020202020204"/>
                <a:cs typeface="Arial" panose="020B0604020202020204"/>
                <a:sym typeface="+mn-ea"/>
              </a:rPr>
              <a:t>Feasibility Study</a:t>
            </a:r>
            <a:endParaRPr lang="en-US">
              <a:solidFill>
                <a:srgbClr val="6E1D6B"/>
              </a:solidFill>
              <a:latin typeface="Arial" panose="020B0604020202020204"/>
              <a:cs typeface="Arial" panose="020B0604020202020204"/>
            </a:endParaRPr>
          </a:p>
          <a:p>
            <a:pPr marL="223520" indent="-223520"/>
            <a:r>
              <a:rPr lang="en-US">
                <a:solidFill>
                  <a:srgbClr val="6E1D6B"/>
                </a:solidFill>
                <a:latin typeface="Arial" panose="020B0604020202020204"/>
                <a:cs typeface="Arial" panose="020B0604020202020204"/>
                <a:sym typeface="+mn-ea"/>
              </a:rPr>
              <a:t>Hardware /Software Requirement</a:t>
            </a:r>
            <a:endParaRPr lang="en-US">
              <a:solidFill>
                <a:srgbClr val="6E1D6B"/>
              </a:solidFill>
              <a:latin typeface="Arial" panose="020B0604020202020204"/>
              <a:cs typeface="Arial" panose="020B0604020202020204"/>
            </a:endParaRPr>
          </a:p>
          <a:p>
            <a:pPr marL="223520" indent="-223520"/>
            <a:r>
              <a:rPr lang="en-US">
                <a:solidFill>
                  <a:srgbClr val="6E1D6B"/>
                </a:solidFill>
                <a:latin typeface="Arial" panose="020B0604020202020204"/>
                <a:cs typeface="Arial" panose="020B0604020202020204"/>
                <a:sym typeface="+mn-ea"/>
              </a:rPr>
              <a:t>Results and Conclusion</a:t>
            </a:r>
            <a:endParaRPr lang="en-US">
              <a:solidFill>
                <a:srgbClr val="6E1D6B"/>
              </a:solidFill>
              <a:latin typeface="Arial" panose="020B0604020202020204"/>
              <a:cs typeface="Arial" panose="020B0604020202020204"/>
            </a:endParaRPr>
          </a:p>
          <a:p>
            <a:pPr marL="223520" indent="-223520"/>
            <a:r>
              <a:rPr lang="en-US" err="1">
                <a:solidFill>
                  <a:srgbClr val="6E1D6B"/>
                </a:solidFill>
                <a:latin typeface="Arial" panose="020B0604020202020204"/>
                <a:cs typeface="Arial" panose="020B0604020202020204"/>
                <a:sym typeface="+mn-ea"/>
              </a:rPr>
              <a:t>Refrences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5672" y="628650"/>
            <a:ext cx="2720340" cy="22669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rial" panose="020B0604020202020204" pitchFamily="34" charset="0"/>
                <a:cs typeface="Arial" panose="020B0604020202020204" pitchFamily="34" charset="0"/>
              </a:rPr>
              <a:t>Introduction</a:t>
            </a:r>
          </a:p>
        </p:txBody>
      </p:sp>
      <p:sp>
        <p:nvSpPr>
          <p:cNvPr id="3" name="Content Placeholder 2"/>
          <p:cNvSpPr>
            <a:spLocks noGrp="1"/>
          </p:cNvSpPr>
          <p:nvPr>
            <p:ph idx="1"/>
          </p:nvPr>
        </p:nvSpPr>
        <p:spPr>
          <a:xfrm>
            <a:off x="1522730" y="1828800"/>
            <a:ext cx="9540234" cy="4191000"/>
          </a:xfrm>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Twitter Feed Analyzer</a:t>
            </a:r>
            <a:r>
              <a:rPr lang="en-US" sz="2400" dirty="0">
                <a:latin typeface="Times New Roman" panose="02020603050405020304" pitchFamily="18" charset="0"/>
                <a:cs typeface="Times New Roman" panose="02020603050405020304" pitchFamily="18" charset="0"/>
              </a:rPr>
              <a:t> is a data-driven web application designed to fetch, store, analyze, and visualize tweets in real-time. Built using </a:t>
            </a:r>
            <a:r>
              <a:rPr lang="en-US" sz="2400" b="1" dirty="0">
                <a:latin typeface="Times New Roman" panose="02020603050405020304" pitchFamily="18" charset="0"/>
                <a:cs typeface="Times New Roman" panose="02020603050405020304" pitchFamily="18" charset="0"/>
              </a:rPr>
              <a:t>Python</a:t>
            </a:r>
            <a:r>
              <a:rPr lang="en-US" sz="2400" dirty="0">
                <a:latin typeface="Times New Roman" panose="02020603050405020304" pitchFamily="18" charset="0"/>
                <a:cs typeface="Times New Roman" panose="02020603050405020304" pitchFamily="18" charset="0"/>
              </a:rPr>
              <a:t> and </a:t>
            </a:r>
            <a:r>
              <a:rPr lang="en-US" sz="2400" b="1" dirty="0" err="1">
                <a:latin typeface="Times New Roman" panose="02020603050405020304" pitchFamily="18" charset="0"/>
                <a:cs typeface="Times New Roman" panose="02020603050405020304" pitchFamily="18" charset="0"/>
              </a:rPr>
              <a:t>Streamlit</a:t>
            </a:r>
            <a:r>
              <a:rPr lang="en-US" sz="2400" dirty="0">
                <a:latin typeface="Times New Roman" panose="02020603050405020304" pitchFamily="18" charset="0"/>
                <a:cs typeface="Times New Roman" panose="02020603050405020304" pitchFamily="18" charset="0"/>
              </a:rPr>
              <a:t> for the front-end, and </a:t>
            </a:r>
            <a:r>
              <a:rPr lang="en-US" sz="2400" b="1" dirty="0">
                <a:latin typeface="Times New Roman" panose="02020603050405020304" pitchFamily="18" charset="0"/>
                <a:cs typeface="Times New Roman" panose="02020603050405020304" pitchFamily="18" charset="0"/>
              </a:rPr>
              <a:t>MongoDB</a:t>
            </a:r>
            <a:r>
              <a:rPr lang="en-US" sz="2400" dirty="0">
                <a:latin typeface="Times New Roman" panose="02020603050405020304" pitchFamily="18" charset="0"/>
                <a:cs typeface="Times New Roman" panose="02020603050405020304" pitchFamily="18" charset="0"/>
              </a:rPr>
              <a:t> for backend storage, the project focuses on delivering a user-friendly platform for performing </a:t>
            </a:r>
            <a:r>
              <a:rPr lang="en-US" sz="2400" b="1" dirty="0">
                <a:latin typeface="Times New Roman" panose="02020603050405020304" pitchFamily="18" charset="0"/>
                <a:cs typeface="Times New Roman" panose="02020603050405020304" pitchFamily="18" charset="0"/>
              </a:rPr>
              <a:t>sentiment analysis</a:t>
            </a:r>
            <a:r>
              <a:rPr lang="en-US" sz="2400" dirty="0">
                <a:latin typeface="Times New Roman" panose="02020603050405020304" pitchFamily="18" charset="0"/>
                <a:cs typeface="Times New Roman" panose="02020603050405020304" pitchFamily="18" charset="0"/>
              </a:rPr>
              <a:t> and gaining insights from Twitter data. It supports keyword-based tweet search, user authentication, sentiment classification using AI models from Hugging Face, and stores tweet history for further analysis. The system is built to be scalable, modular, and secure—making it suitable for social media monitoring, opinion mining, and trend analysis.</a:t>
            </a:r>
            <a:endParaRPr lang="en-US" altLang="en-US" sz="2400" dirty="0">
              <a:solidFill>
                <a:srgbClr val="6E1D6B"/>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Arial" panose="020B0604020202020204"/>
                <a:cs typeface="Arial" panose="020B0604020202020204"/>
                <a:sym typeface="+mn-ea"/>
              </a:rPr>
              <a:t>Literature Survey/Existing System</a:t>
            </a:r>
            <a:endParaRPr lang="en-GB"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Traditional approaches to social media analysis often require technical expertise, involve complex tools, or lack real-time capabilities. Many existing solutions are either costly, lack customization, or do not offer seamless integration of </a:t>
            </a:r>
            <a:r>
              <a:rPr lang="en-US" sz="2400" b="1" dirty="0">
                <a:latin typeface="Times New Roman" panose="02020603050405020304" pitchFamily="18" charset="0"/>
                <a:cs typeface="Times New Roman" panose="02020603050405020304" pitchFamily="18" charset="0"/>
              </a:rPr>
              <a:t>tweet fetching</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storage</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AI-powered sentiment analysis</a:t>
            </a:r>
            <a:r>
              <a:rPr lang="en-US" sz="2400" dirty="0">
                <a:latin typeface="Times New Roman" panose="02020603050405020304" pitchFamily="18" charset="0"/>
                <a:cs typeface="Times New Roman" panose="02020603050405020304" pitchFamily="18" charset="0"/>
              </a:rPr>
              <a:t>. This project addresses these gaps by building a </a:t>
            </a:r>
            <a:r>
              <a:rPr lang="en-US" sz="2400" b="1" dirty="0">
                <a:latin typeface="Times New Roman" panose="02020603050405020304" pitchFamily="18" charset="0"/>
                <a:cs typeface="Times New Roman" panose="02020603050405020304" pitchFamily="18" charset="0"/>
              </a:rPr>
              <a:t>lightweight, accessible, and cost-effective platform</a:t>
            </a:r>
            <a:r>
              <a:rPr lang="en-US" sz="2400" dirty="0">
                <a:latin typeface="Times New Roman" panose="02020603050405020304" pitchFamily="18" charset="0"/>
                <a:cs typeface="Times New Roman" panose="02020603050405020304" pitchFamily="18" charset="0"/>
              </a:rPr>
              <a:t> using </a:t>
            </a:r>
            <a:r>
              <a:rPr lang="en-US" sz="2400" b="1" dirty="0">
                <a:latin typeface="Times New Roman" panose="02020603050405020304" pitchFamily="18" charset="0"/>
                <a:cs typeface="Times New Roman" panose="02020603050405020304" pitchFamily="18" charset="0"/>
              </a:rPr>
              <a:t>Python, </a:t>
            </a:r>
            <a:r>
              <a:rPr lang="en-US" sz="2400" b="1" dirty="0" err="1">
                <a:latin typeface="Times New Roman" panose="02020603050405020304" pitchFamily="18" charset="0"/>
                <a:cs typeface="Times New Roman" panose="02020603050405020304" pitchFamily="18" charset="0"/>
              </a:rPr>
              <a:t>Streamlit</a:t>
            </a:r>
            <a:r>
              <a:rPr lang="en-US" sz="2400" b="1" dirty="0">
                <a:latin typeface="Times New Roman" panose="02020603050405020304" pitchFamily="18" charset="0"/>
                <a:cs typeface="Times New Roman" panose="02020603050405020304" pitchFamily="18" charset="0"/>
              </a:rPr>
              <a:t>, and MongoDB</a:t>
            </a:r>
            <a:r>
              <a:rPr lang="en-US" sz="2400" dirty="0">
                <a:latin typeface="Times New Roman" panose="02020603050405020304" pitchFamily="18" charset="0"/>
                <a:cs typeface="Times New Roman" panose="02020603050405020304" pitchFamily="18" charset="0"/>
              </a:rPr>
              <a:t>, enabling users to analyze Twitter data in real-time without deep technical know-how.</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Arial" panose="020B0604020202020204" pitchFamily="34" charset="0"/>
                <a:cs typeface="Arial" panose="020B0604020202020204" pitchFamily="34" charset="0"/>
              </a:rPr>
              <a:t>Problem Statement </a:t>
            </a:r>
          </a:p>
        </p:txBody>
      </p:sp>
      <p:sp>
        <p:nvSpPr>
          <p:cNvPr id="3" name="Content Placeholder 2"/>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Manual analysis of Twitter data can be time-consuming, error-prone, and lacks scalability. This project aims to build an automated </a:t>
            </a:r>
            <a:r>
              <a:rPr lang="en-US" sz="2400" b="1" dirty="0">
                <a:latin typeface="Times New Roman" panose="02020603050405020304" pitchFamily="18" charset="0"/>
                <a:cs typeface="Times New Roman" panose="02020603050405020304" pitchFamily="18" charset="0"/>
              </a:rPr>
              <a:t>Twitter Feed Analyzer</a:t>
            </a:r>
            <a:r>
              <a:rPr lang="en-US" sz="2400" dirty="0">
                <a:latin typeface="Times New Roman" panose="02020603050405020304" pitchFamily="18" charset="0"/>
                <a:cs typeface="Times New Roman" panose="02020603050405020304" pitchFamily="18" charset="0"/>
              </a:rPr>
              <a:t> using </a:t>
            </a:r>
            <a:r>
              <a:rPr lang="en-US" sz="2400" b="1" dirty="0">
                <a:latin typeface="Times New Roman" panose="02020603050405020304" pitchFamily="18" charset="0"/>
                <a:cs typeface="Times New Roman" panose="02020603050405020304" pitchFamily="18" charset="0"/>
              </a:rPr>
              <a:t>Python, </a:t>
            </a:r>
            <a:r>
              <a:rPr lang="en-US" sz="2400" b="1" dirty="0" err="1">
                <a:latin typeface="Times New Roman" panose="02020603050405020304" pitchFamily="18" charset="0"/>
                <a:cs typeface="Times New Roman" panose="02020603050405020304" pitchFamily="18" charset="0"/>
              </a:rPr>
              <a:t>Streamlit</a:t>
            </a:r>
            <a:r>
              <a:rPr lang="en-US" sz="2400" b="1" dirty="0">
                <a:latin typeface="Times New Roman" panose="02020603050405020304" pitchFamily="18" charset="0"/>
                <a:cs typeface="Times New Roman" panose="02020603050405020304" pitchFamily="18" charset="0"/>
              </a:rPr>
              <a:t>, and MongoDB</a:t>
            </a:r>
            <a:r>
              <a:rPr lang="en-US" sz="2400" dirty="0">
                <a:latin typeface="Times New Roman" panose="02020603050405020304" pitchFamily="18" charset="0"/>
                <a:cs typeface="Times New Roman" panose="02020603050405020304" pitchFamily="18" charset="0"/>
              </a:rPr>
              <a:t> to streamline the process of fetching, storing, and analyzing tweets. It enables users to perform </a:t>
            </a:r>
            <a:r>
              <a:rPr lang="en-US" sz="2400" b="1" dirty="0">
                <a:latin typeface="Times New Roman" panose="02020603050405020304" pitchFamily="18" charset="0"/>
                <a:cs typeface="Times New Roman" panose="02020603050405020304" pitchFamily="18" charset="0"/>
              </a:rPr>
              <a:t>keyword-based searches</a:t>
            </a:r>
            <a:r>
              <a:rPr lang="en-US" sz="2400" dirty="0">
                <a:latin typeface="Times New Roman" panose="02020603050405020304" pitchFamily="18" charset="0"/>
                <a:cs typeface="Times New Roman" panose="02020603050405020304" pitchFamily="18" charset="0"/>
              </a:rPr>
              <a:t>, visualize </a:t>
            </a:r>
            <a:r>
              <a:rPr lang="en-US" sz="2400" b="1" dirty="0">
                <a:latin typeface="Times New Roman" panose="02020603050405020304" pitchFamily="18" charset="0"/>
                <a:cs typeface="Times New Roman" panose="02020603050405020304" pitchFamily="18" charset="0"/>
              </a:rPr>
              <a:t>sentiment trends</a:t>
            </a:r>
            <a:r>
              <a:rPr lang="en-US" sz="2400" dirty="0">
                <a:latin typeface="Times New Roman" panose="02020603050405020304" pitchFamily="18" charset="0"/>
                <a:cs typeface="Times New Roman" panose="02020603050405020304" pitchFamily="18" charset="0"/>
              </a:rPr>
              <a:t>, and access </a:t>
            </a:r>
            <a:r>
              <a:rPr lang="en-US" sz="2400" b="1" dirty="0">
                <a:latin typeface="Times New Roman" panose="02020603050405020304" pitchFamily="18" charset="0"/>
                <a:cs typeface="Times New Roman" panose="02020603050405020304" pitchFamily="18" charset="0"/>
              </a:rPr>
              <a:t>search history</a:t>
            </a:r>
            <a:r>
              <a:rPr lang="en-US" sz="2400" dirty="0">
                <a:latin typeface="Times New Roman" panose="02020603050405020304" pitchFamily="18" charset="0"/>
                <a:cs typeface="Times New Roman" panose="02020603050405020304" pitchFamily="18" charset="0"/>
              </a:rPr>
              <a:t> in a simple and interactive interface.</a:t>
            </a:r>
            <a:endParaRPr lang="en-US" altLang="en-US" sz="2400" dirty="0">
              <a:solidFill>
                <a:srgbClr val="6E1D6B"/>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b="1" dirty="0">
                <a:latin typeface="Arial" panose="020B0604020202020204" pitchFamily="34" charset="0"/>
                <a:cs typeface="Arial" panose="020B0604020202020204" pitchFamily="34" charset="0"/>
              </a:rPr>
              <a:t>Proposed Methodology</a:t>
            </a:r>
          </a:p>
        </p:txBody>
      </p:sp>
      <p:sp>
        <p:nvSpPr>
          <p:cNvPr id="6" name="Rectangle 3">
            <a:extLst>
              <a:ext uri="{FF2B5EF4-FFF2-40B4-BE49-F238E27FC236}">
                <a16:creationId xmlns:a16="http://schemas.microsoft.com/office/drawing/2014/main" id="{E47A5046-BB08-1A5F-7768-C2BE842C7D06}"/>
              </a:ext>
            </a:extLst>
          </p:cNvPr>
          <p:cNvSpPr>
            <a:spLocks noGrp="1" noChangeArrowheads="1"/>
          </p:cNvSpPr>
          <p:nvPr>
            <p:ph idx="1"/>
          </p:nvPr>
        </p:nvSpPr>
        <p:spPr bwMode="auto">
          <a:xfrm>
            <a:off x="1522415" y="1877588"/>
            <a:ext cx="9108502"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Authentication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Allows users to securely sign up and log in using hashed passwords.</a:t>
            </a:r>
          </a:p>
          <a:p>
            <a:pPr eaLnBrk="0" fontAlgn="base" hangingPunct="0">
              <a:lnSpc>
                <a:spcPct val="100000"/>
              </a:lnSpc>
              <a:spcBef>
                <a:spcPct val="0"/>
              </a:spcBef>
              <a:spcAft>
                <a:spcPct val="0"/>
              </a:spcAft>
              <a:buClrTx/>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Tweet Search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Enables users to search for tweets in real-time using keywords or hashtags.</a:t>
            </a:r>
          </a:p>
          <a:p>
            <a:pPr eaLnBrk="0" fontAlgn="base" hangingPunct="0">
              <a:lnSpc>
                <a:spcPct val="100000"/>
              </a:lnSpc>
              <a:spcBef>
                <a:spcPct val="0"/>
              </a:spcBef>
              <a:spcAft>
                <a:spcPct val="0"/>
              </a:spcAft>
              <a:buClrTx/>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Sentiment Analysis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Analyzes the emotional tone of tweets (positive, negative, neutral) using NLP models.</a:t>
            </a:r>
          </a:p>
          <a:p>
            <a:pPr eaLnBrk="0" fontAlgn="base" hangingPunct="0">
              <a:lnSpc>
                <a:spcPct val="100000"/>
              </a:lnSpc>
              <a:spcBef>
                <a:spcPct val="0"/>
              </a:spcBef>
              <a:spcAft>
                <a:spcPct val="0"/>
              </a:spcAft>
              <a:buClrTx/>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Search History Tracking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Stores each user's past keyword searches for easy reference.</a:t>
            </a:r>
          </a:p>
          <a:p>
            <a:pPr eaLnBrk="0" fontAlgn="base" hangingPunct="0">
              <a:lnSpc>
                <a:spcPct val="100000"/>
              </a:lnSpc>
              <a:spcBef>
                <a:spcPct val="0"/>
              </a:spcBef>
              <a:spcAft>
                <a:spcPct val="0"/>
              </a:spcAft>
              <a:buClrTx/>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Visualization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Displays tweet statistics, sentiment distribution, and trends using charts.</a:t>
            </a:r>
          </a:p>
          <a:p>
            <a:pPr eaLnBrk="0" fontAlgn="base" hangingPunct="0">
              <a:lnSpc>
                <a:spcPct val="100000"/>
              </a:lnSpc>
              <a:spcBef>
                <a:spcPct val="0"/>
              </a:spcBef>
              <a:spcAft>
                <a:spcPct val="0"/>
              </a:spcAft>
              <a:buClrTx/>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Tweet Storage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Saves fetched tweets in MongoDB for future analysis and reporting.</a:t>
            </a:r>
          </a:p>
          <a:p>
            <a:pPr eaLnBrk="0" fontAlgn="base" hangingPunct="0">
              <a:lnSpc>
                <a:spcPct val="100000"/>
              </a:lnSpc>
              <a:spcBef>
                <a:spcPct val="0"/>
              </a:spcBef>
              <a:spcAft>
                <a:spcPct val="0"/>
              </a:spcAft>
              <a:buClrTx/>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Interactive Dashboard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users with a unified view of their searched topics, sentiment insights, and past activity.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4" y="533400"/>
            <a:ext cx="8388422" cy="663352"/>
          </a:xfrm>
        </p:spPr>
        <p:txBody>
          <a:bodyPr/>
          <a:lstStyle/>
          <a:p>
            <a:r>
              <a:rPr lang="en-US" b="1" dirty="0">
                <a:latin typeface="Arial" panose="020B0604020202020204"/>
                <a:cs typeface="Arial" panose="020B0604020202020204"/>
                <a:sym typeface="+mn-ea"/>
              </a:rPr>
              <a:t>Flowcharts and Use Case/ER Diagrams</a:t>
            </a:r>
            <a:endParaRPr lang="en-GB" b="1" dirty="0">
              <a:latin typeface="Arial" panose="020B0604020202020204" pitchFamily="34" charset="0"/>
              <a:cs typeface="Arial" panose="020B0604020202020204" pitchFamily="34" charset="0"/>
            </a:endParaRPr>
          </a:p>
        </p:txBody>
      </p:sp>
      <p:pic>
        <p:nvPicPr>
          <p:cNvPr id="7" name="Content Placeholder 6" descr="A diagram of a company&#10;&#10;AI-generated content may be incorrect.">
            <a:extLst>
              <a:ext uri="{FF2B5EF4-FFF2-40B4-BE49-F238E27FC236}">
                <a16:creationId xmlns:a16="http://schemas.microsoft.com/office/drawing/2014/main" id="{2F36DEEA-48D0-662A-79A6-8A9380A5948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22414" y="1196751"/>
            <a:ext cx="1979710" cy="5395379"/>
          </a:xfrm>
        </p:spPr>
      </p:pic>
      <p:pic>
        <p:nvPicPr>
          <p:cNvPr id="9" name="Picture 8" descr="A close-up of a diagram&#10;&#10;AI-generated content may be incorrect.">
            <a:extLst>
              <a:ext uri="{FF2B5EF4-FFF2-40B4-BE49-F238E27FC236}">
                <a16:creationId xmlns:a16="http://schemas.microsoft.com/office/drawing/2014/main" id="{85731864-A6E7-7CE4-B218-68DBB1265B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18330" y="1196751"/>
            <a:ext cx="1171177" cy="542499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Arial" panose="020B0604020202020204"/>
                <a:cs typeface="Arial" panose="020B0604020202020204"/>
                <a:sym typeface="+mn-ea"/>
              </a:rPr>
              <a:t>Feasibility Study</a:t>
            </a:r>
            <a:endParaRPr lang="en-GB" b="1" dirty="0">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EEF30B69-8C3A-FFEA-78DE-D6EC92003276}"/>
              </a:ext>
            </a:extLst>
          </p:cNvPr>
          <p:cNvSpPr>
            <a:spLocks noGrp="1" noChangeArrowheads="1"/>
          </p:cNvSpPr>
          <p:nvPr>
            <p:ph idx="1"/>
          </p:nvPr>
        </p:nvSpPr>
        <p:spPr bwMode="auto">
          <a:xfrm>
            <a:off x="1522415" y="2339252"/>
            <a:ext cx="9324525"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Technical Feasibility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is technically sound, leveraging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data processing and analysis, </a:t>
            </a:r>
            <a:r>
              <a:rPr kumimoji="0" lang="en-US" altLang="en-US"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building an interactive UI, and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MongoDB</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a scalable NoSQL backend. All chosen technologies are reliable, open-source, and well-documented.</a:t>
            </a:r>
          </a:p>
          <a:p>
            <a:pPr eaLnBrk="0" fontAlgn="base" hangingPunct="0">
              <a:lnSpc>
                <a:spcPct val="100000"/>
              </a:lnSpc>
              <a:spcBef>
                <a:spcPct val="0"/>
              </a:spcBef>
              <a:spcAft>
                <a:spcPct val="0"/>
              </a:spcAft>
              <a:buClrTx/>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Operational Feasibility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platform provides a clean and intuitive interface, enabling users to easily search tweets, analyze sentiment, and view results—making it suitable for both technical and non-technical users interested in social media analytics.</a:t>
            </a:r>
          </a:p>
          <a:p>
            <a:pPr eaLnBrk="0" fontAlgn="base" hangingPunct="0">
              <a:lnSpc>
                <a:spcPct val="100000"/>
              </a:lnSpc>
              <a:spcBef>
                <a:spcPct val="0"/>
              </a:spcBef>
              <a:spcAft>
                <a:spcPct val="0"/>
              </a:spcAft>
              <a:buClrTx/>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Economic Feasibility</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project is cost-effective, relying on open-source tools and free-tier cloud services (like MongoDB Atlas), minimizing the need for expensive infrastructure or licensing.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Arial" panose="020B0604020202020204"/>
                <a:cs typeface="Arial" panose="020B0604020202020204"/>
                <a:sym typeface="+mn-ea"/>
              </a:rPr>
              <a:t>Hardware /Software Requirement</a:t>
            </a:r>
            <a:endParaRPr lang="en-GB" b="1"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E59793B2-E556-5294-52DD-1559A05FD33D}"/>
              </a:ext>
            </a:extLst>
          </p:cNvPr>
          <p:cNvSpPr>
            <a:spLocks noGrp="1" noChangeArrowheads="1"/>
          </p:cNvSpPr>
          <p:nvPr>
            <p:ph idx="1"/>
          </p:nvPr>
        </p:nvSpPr>
        <p:spPr bwMode="auto">
          <a:xfrm>
            <a:off x="1522414" y="2029490"/>
            <a:ext cx="824440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Processor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Intel Core i3 or equivalent (minimum)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4 GB or higher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50 GB HDD or SSD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14-inch monitor or larger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Devices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Keyboard and Mouse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Internet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Stable connection (required for fetching live tweets and cloud database access)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Arial" panose="020B0604020202020204"/>
                <a:cs typeface="Arial" panose="020B0604020202020204"/>
                <a:sym typeface="+mn-ea"/>
              </a:rPr>
              <a:t>Hardware /Software Requirement</a:t>
            </a:r>
            <a:endParaRPr lang="en-GB" b="1" dirty="0">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3E7DE01B-5CBE-DE6D-326F-44AF964E02D8}"/>
              </a:ext>
            </a:extLst>
          </p:cNvPr>
          <p:cNvSpPr>
            <a:spLocks noGrp="1" noChangeArrowheads="1"/>
          </p:cNvSpPr>
          <p:nvPr>
            <p:ph idx="1"/>
          </p:nvPr>
        </p:nvSpPr>
        <p:spPr bwMode="auto">
          <a:xfrm>
            <a:off x="1522414" y="1916832"/>
            <a:ext cx="932452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 10 / Linux / macOS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with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MongoDB (Cloud or Local Instance)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VS Code / PyCharm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Other Tools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Web Browser (Chrome/Firefox), MongoDB Compass (for DB inspection)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pymongo</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hashlib</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pandas</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matplotlib</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transformers</a:t>
            </a:r>
            <a:r>
              <a:rPr kumimoji="0" lang="en-US" altLang="en-US" sz="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sentiment analysis)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Arial" panose="020B0604020202020204"/>
                <a:cs typeface="Arial" panose="020B0604020202020204"/>
                <a:sym typeface="+mn-ea"/>
              </a:rPr>
              <a:t>Results and Conclusion</a:t>
            </a:r>
            <a:endParaRPr lang="en-GB"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Twitter Feed Analyzer</a:t>
            </a:r>
            <a:r>
              <a:rPr lang="en-US" sz="2400" dirty="0">
                <a:latin typeface="Times New Roman" panose="02020603050405020304" pitchFamily="18" charset="0"/>
                <a:cs typeface="Times New Roman" panose="02020603050405020304" pitchFamily="18" charset="0"/>
              </a:rPr>
              <a:t> successfully performs all core functions including user authentication, tweet fetching based on keywords, sentiment analysis, and storing search history. The system ensures secure data handling using hashed credentials and full CRUD operations integrated with a MongoDB backend. The user interface built with </a:t>
            </a:r>
            <a:r>
              <a:rPr lang="en-US" sz="2400" dirty="0" err="1">
                <a:latin typeface="Times New Roman" panose="02020603050405020304" pitchFamily="18" charset="0"/>
                <a:cs typeface="Times New Roman" panose="02020603050405020304" pitchFamily="18" charset="0"/>
              </a:rPr>
              <a:t>Streamlit</a:t>
            </a:r>
            <a:r>
              <a:rPr lang="en-US" sz="2400" dirty="0">
                <a:latin typeface="Times New Roman" panose="02020603050405020304" pitchFamily="18" charset="0"/>
                <a:cs typeface="Times New Roman" panose="02020603050405020304" pitchFamily="18" charset="0"/>
              </a:rPr>
              <a:t> is intuitive and responsive, meeting the goals of usability, performance, and scalability.</a:t>
            </a:r>
          </a:p>
          <a:p>
            <a:pPr marL="0" indent="0">
              <a:buNone/>
            </a:pPr>
            <a:r>
              <a:rPr lang="en-US" sz="2400" dirty="0">
                <a:latin typeface="Times New Roman" panose="02020603050405020304" pitchFamily="18" charset="0"/>
                <a:cs typeface="Times New Roman" panose="02020603050405020304" pitchFamily="18" charset="0"/>
              </a:rPr>
              <a:t>This project demonstrates how a Python-based solution, combined with MongoDB and NLP models, can help users analyze public sentiment, visualize tweet insights, and explore social media trends effectively.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atin typeface="Arial" panose="020B0604020202020204"/>
                <a:cs typeface="Arial" panose="020B0604020202020204"/>
                <a:sym typeface="+mn-ea"/>
              </a:rPr>
              <a:t>References</a:t>
            </a:r>
            <a:endParaRPr lang="en-GB" b="1" dirty="0">
              <a:latin typeface="Arial" panose="020B0604020202020204" pitchFamily="34" charset="0"/>
              <a:cs typeface="Arial" panose="020B0604020202020204" pitchFamily="34" charset="0"/>
            </a:endParaRPr>
          </a:p>
        </p:txBody>
      </p:sp>
      <p:sp>
        <p:nvSpPr>
          <p:cNvPr id="5" name="Rectangle 2">
            <a:extLst>
              <a:ext uri="{FF2B5EF4-FFF2-40B4-BE49-F238E27FC236}">
                <a16:creationId xmlns:a16="http://schemas.microsoft.com/office/drawing/2014/main" id="{AA0B76DF-F4CD-C328-3199-9405143C2063}"/>
              </a:ext>
            </a:extLst>
          </p:cNvPr>
          <p:cNvSpPr>
            <a:spLocks noGrp="1" noChangeArrowheads="1"/>
          </p:cNvSpPr>
          <p:nvPr>
            <p:ph idx="1"/>
          </p:nvPr>
        </p:nvSpPr>
        <p:spPr bwMode="auto">
          <a:xfrm>
            <a:off x="1522414" y="1662146"/>
            <a:ext cx="860444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Twitter Developer Platform –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2"/>
              </a:rPr>
              <a:t>https://developer.twitter.com</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MongoDB Documentation –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3"/>
              </a:rPr>
              <a:t>https://www.mongodb.com/docs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Official Documentation –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4"/>
              </a:rPr>
              <a:t>https://docs.python.org</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Documentation –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5"/>
              </a:rPr>
              <a:t>https://docs.streamlit.io</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buClr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Hugging Face Transformers – https://huggingface.co/docs/transformers</a:t>
            </a:r>
          </a:p>
          <a:p>
            <a:pPr eaLnBrk="0" fontAlgn="base" hangingPunct="0">
              <a:lnSpc>
                <a:spcPct val="100000"/>
              </a:lnSpc>
              <a:spcBef>
                <a:spcPct val="0"/>
              </a:spcBef>
              <a:spcAft>
                <a:spcPct val="0"/>
              </a:spcAft>
              <a:buClr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Pandas Documentation – https://pandas.pydata.org/docs</a:t>
            </a:r>
          </a:p>
          <a:p>
            <a:pPr eaLnBrk="0" fontAlgn="base" hangingPunct="0">
              <a:lnSpc>
                <a:spcPct val="100000"/>
              </a:lnSpc>
              <a:spcBef>
                <a:spcPct val="0"/>
              </a:spcBef>
              <a:spcAft>
                <a:spcPct val="0"/>
              </a:spcAft>
              <a:buClr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NumPy Documentation – https://numpy.org/doc</a:t>
            </a:r>
          </a:p>
          <a:p>
            <a:pPr eaLnBrk="0" fontAlgn="base" hangingPunct="0">
              <a:lnSpc>
                <a:spcPct val="100000"/>
              </a:lnSpc>
              <a:spcBef>
                <a:spcPct val="0"/>
              </a:spcBef>
              <a:spcAft>
                <a:spcPct val="0"/>
              </a:spcAft>
              <a:buClr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Matplotlib &amp; Seaborn for Data Visualization – https://matplotlib.org/stable/contents.html, https://seaborn.pydata.org</a:t>
            </a:r>
          </a:p>
          <a:p>
            <a:pPr eaLnBrk="0" fontAlgn="base" hangingPunct="0">
              <a:lnSpc>
                <a:spcPct val="100000"/>
              </a:lnSpc>
              <a:spcBef>
                <a:spcPct val="0"/>
              </a:spcBef>
              <a:spcAft>
                <a:spcPct val="0"/>
              </a:spcAft>
              <a:buClrTx/>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PyMongo</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hlinkClick r:id="rId6"/>
              </a:rPr>
              <a:t>https://pymongo.readthedocs.io</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9504" y="2667000"/>
            <a:ext cx="9601200" cy="4191000"/>
          </a:xfrm>
        </p:spPr>
        <p:txBody>
          <a:bodyPr>
            <a:normAutofit/>
          </a:bodyPr>
          <a:lstStyle/>
          <a:p>
            <a:pPr algn="ctr">
              <a:buNone/>
            </a:pPr>
            <a:r>
              <a:rPr lang="en-GB" sz="8800" dirty="0">
                <a:solidFill>
                  <a:schemeClr val="accent1">
                    <a:lumMod val="75000"/>
                  </a:schemeClr>
                </a:solidFill>
                <a:latin typeface="Arial" panose="020B0604020202020204" pitchFamily="34" charset="0"/>
                <a:cs typeface="Arial" panose="020B0604020202020204" pitchFamily="34" charset="0"/>
              </a:rPr>
              <a:t>Thank You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51*60"/>
  <p:tag name="TABLE_ENDDRAG_RECT" val="128*372*651*60"/>
</p:tagLst>
</file>

<file path=ppt/theme/theme1.xml><?xml version="1.0" encoding="utf-8"?>
<a:theme xmlns:a="http://schemas.openxmlformats.org/drawingml/2006/main" name="Vertical and Horizontal design template">
  <a:themeElements>
    <a:clrScheme name="">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92278F"/>
      </a:hlink>
      <a:folHlink>
        <a:srgbClr val="6E1D6B"/>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entury Gothic">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Vertical and horizontal design slides</Template>
  <TotalTime>23</TotalTime>
  <Words>918</Words>
  <Application>Microsoft Office PowerPoint</Application>
  <PresentationFormat>Custom</PresentationFormat>
  <Paragraphs>71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굴림</vt:lpstr>
      <vt:lpstr>Arial</vt:lpstr>
      <vt:lpstr>Century Gothic</vt:lpstr>
      <vt:lpstr>Times New Roman</vt:lpstr>
      <vt:lpstr>Vertical and Horizontal design template</vt:lpstr>
      <vt:lpstr>Twitter Feed Analyzer DBMS (BCSE0452)</vt:lpstr>
      <vt:lpstr>Index</vt:lpstr>
      <vt:lpstr>Introduction</vt:lpstr>
      <vt:lpstr>Literature Survey/Existing System</vt:lpstr>
      <vt:lpstr>Problem Statement </vt:lpstr>
      <vt:lpstr>Proposed Methodology</vt:lpstr>
      <vt:lpstr>Flowcharts and Use Case/ER Diagrams</vt:lpstr>
      <vt:lpstr>Feasibility Study</vt:lpstr>
      <vt:lpstr>Hardware /Software Requirement</vt:lpstr>
      <vt:lpstr>Hardware /Software Requirement</vt:lpstr>
      <vt:lpstr>Results and 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Exam Duty Allocation</dc:title>
  <dc:creator>Sudhanshu</dc:creator>
  <cp:lastModifiedBy>SURYANSH SINGH</cp:lastModifiedBy>
  <cp:revision>111</cp:revision>
  <dcterms:created xsi:type="dcterms:W3CDTF">2017-11-16T17:39:00Z</dcterms:created>
  <dcterms:modified xsi:type="dcterms:W3CDTF">2025-04-11T06:41:34Z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74067800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ICV">
    <vt:lpwstr>946EEE5E98844918BD7D6791BB74ACEA_13</vt:lpwstr>
  </property>
  <property fmtid="{D5CDD505-2E9C-101B-9397-08002B2CF9AE}" pid="13" name="KSOProductBuildVer">
    <vt:lpwstr>1033-12.2.0.20782</vt:lpwstr>
  </property>
</Properties>
</file>